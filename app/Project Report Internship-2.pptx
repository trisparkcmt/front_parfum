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08-31T15:21:50.3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ren Tankam" userId="ab617985eb358782" providerId="Windows Live" clId="Web-{00000000-0000-0000-0000-000000000000}"/>
    <pc:docChg chg="modSld">
      <pc:chgData name="darren Tankam" userId="ab617985eb358782" providerId="Windows Live" clId="Web-{00000000-0000-0000-0000-000000000000}" dt="2026-08-31T15:21:50.314" v="8"/>
      <pc:docMkLst>
        <pc:docMk/>
      </pc:docMkLst>
      <pc:sldChg chg="addSp delSp modSp">
        <pc:chgData name="darren Tankam" userId="ab617985eb358782" providerId="Windows Live" clId="Web-{00000000-0000-0000-0000-000000000000}" dt="2026-08-31T15:21:50.314" v="8"/>
        <pc:sldMkLst>
          <pc:docMk/>
          <pc:sldMk cId="0" sldId="260"/>
        </pc:sldMkLst>
        <pc:spChg chg="mod">
          <ac:chgData name="darren Tankam" userId="ab617985eb358782" providerId="Windows Live" clId="Web-{00000000-0000-0000-0000-000000000000}" dt="2026-08-31T15:20:08.092" v="1" actId="1076"/>
          <ac:spMkLst>
            <pc:docMk/>
            <pc:sldMk cId="0" sldId="260"/>
            <ac:spMk id="9" creationId="{00000000-0000-0000-0000-000000000000}"/>
          </ac:spMkLst>
        </pc:spChg>
        <pc:picChg chg="add del mod">
          <ac:chgData name="darren Tankam" userId="ab617985eb358782" providerId="Windows Live" clId="Web-{00000000-0000-0000-0000-000000000000}" dt="2026-08-31T15:21:50.314" v="8"/>
          <ac:picMkLst>
            <pc:docMk/>
            <pc:sldMk cId="0" sldId="260"/>
            <ac:picMk id="23" creationId="{253F7B64-FF00-D4FF-FF42-14DD142F80E2}"/>
          </ac:picMkLst>
        </pc:picChg>
      </pc:sldChg>
      <pc:sldChg chg="modSp">
        <pc:chgData name="darren Tankam" userId="ab617985eb358782" providerId="Windows Live" clId="Web-{00000000-0000-0000-0000-000000000000}" dt="2026-08-31T15:19:19.309" v="0"/>
        <pc:sldMkLst>
          <pc:docMk/>
          <pc:sldMk cId="0" sldId="263"/>
        </pc:sldMkLst>
        <pc:picChg chg="mod">
          <ac:chgData name="darren Tankam" userId="ab617985eb358782" providerId="Windows Live" clId="Web-{00000000-0000-0000-0000-000000000000}" dt="2026-08-31T15:19:19.309" v="0"/>
          <ac:picMkLst>
            <pc:docMk/>
            <pc:sldMk cId="0" sldId="263"/>
            <ac:picMk id="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1729829"/>
            <a:ext cx="571500" cy="381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2072729"/>
            <a:ext cx="9001125" cy="1279921"/>
          </a:xfrm>
          <a:prstGeom prst="rect">
            <a:avLst/>
          </a:prstGeom>
          <a:noFill/>
        </p:spPr>
        <p:txBody>
          <a:bodyPr wrap="square" lIns="0" tIns="0" rIns="0" bIns="0" anchor="t">
            <a:spAutoFit/>
          </a:bodyPr>
          <a:lstStyle/>
          <a:p>
            <a:pPr algn="l">
              <a:lnSpc>
                <a:spcPts val="5040"/>
              </a:lnSpc>
            </a:pPr>
            <a:r>
              <a:rPr sz="4200" b="0" i="0" u="none">
                <a:solidFill>
                  <a:srgbClr val="111827"/>
                </a:solidFill>
                <a:latin typeface="Inter SemiBold"/>
              </a:rPr>
              <a:t>Customer Churn Prediction System</a:t>
            </a:r>
          </a:p>
        </p:txBody>
      </p:sp>
      <p:sp>
        <p:nvSpPr>
          <p:cNvPr id="4" name="TextBox 3"/>
          <p:cNvSpPr txBox="1"/>
          <p:nvPr/>
        </p:nvSpPr>
        <p:spPr>
          <a:xfrm>
            <a:off x="609600" y="3581251"/>
            <a:ext cx="8572500" cy="365670"/>
          </a:xfrm>
          <a:prstGeom prst="rect">
            <a:avLst/>
          </a:prstGeom>
          <a:noFill/>
        </p:spPr>
        <p:txBody>
          <a:bodyPr wrap="square" lIns="0" tIns="0" rIns="0" bIns="0" anchor="t">
            <a:spAutoFit/>
          </a:bodyPr>
          <a:lstStyle/>
          <a:p>
            <a:pPr algn="l">
              <a:lnSpc>
                <a:spcPts val="2879"/>
              </a:lnSpc>
            </a:pPr>
            <a:r>
              <a:rPr sz="1800" b="0" i="0" u="none">
                <a:solidFill>
                  <a:srgbClr val="4B5563"/>
                </a:solidFill>
                <a:latin typeface="Inter"/>
              </a:rPr>
              <a:t>Utilizing Machine Learning and Streamlit for Proactive Retention</a:t>
            </a:r>
          </a:p>
        </p:txBody>
      </p:sp>
      <p:sp>
        <p:nvSpPr>
          <p:cNvPr id="5" name="TextBox 4"/>
          <p:cNvSpPr txBox="1"/>
          <p:nvPr/>
        </p:nvSpPr>
        <p:spPr>
          <a:xfrm>
            <a:off x="857250" y="4556521"/>
            <a:ext cx="4010025" cy="571500"/>
          </a:xfrm>
          <a:prstGeom prst="rect">
            <a:avLst/>
          </a:prstGeom>
          <a:noFill/>
        </p:spPr>
        <p:txBody>
          <a:bodyPr wrap="square" lIns="0" tIns="0" rIns="0" bIns="0" anchor="t">
            <a:spAutoFit/>
          </a:bodyPr>
          <a:lstStyle/>
          <a:p>
            <a:pPr algn="l"/>
            <a:r>
              <a:rPr sz="1200" b="0" i="0" u="none">
                <a:solidFill>
                  <a:srgbClr val="6B7280"/>
                </a:solidFill>
                <a:latin typeface="Inter SemiBold"/>
              </a:rPr>
              <a:t>Student Name</a:t>
            </a:r>
            <a:r>
              <a:rPr sz="1200" b="0" i="0" u="none">
                <a:solidFill>
                  <a:srgbClr val="1F2937"/>
                </a:solidFill>
                <a:latin typeface="Inter"/>
              </a:rPr>
              <a:t> </a:t>
            </a:r>
            <a:r>
              <a:rPr sz="1200" b="0" i="0" u="none">
                <a:solidFill>
                  <a:srgbClr val="111827"/>
                </a:solidFill>
                <a:latin typeface="Inter Medium"/>
              </a:rPr>
              <a:t>Darren Fortun Fotsing Tankam</a:t>
            </a:r>
            <a:r>
              <a:rPr sz="1200" b="0" i="0" u="none">
                <a:solidFill>
                  <a:srgbClr val="1F2937"/>
                </a:solidFill>
                <a:latin typeface="Inter"/>
              </a:rPr>
              <a:t> </a:t>
            </a:r>
            <a:r>
              <a:rPr sz="1200" b="0" i="0" u="none">
                <a:solidFill>
                  <a:srgbClr val="6B7280"/>
                </a:solidFill>
                <a:latin typeface="Inter Medium"/>
              </a:rPr>
              <a:t>Reg: 23923030019</a:t>
            </a:r>
          </a:p>
        </p:txBody>
      </p:sp>
      <p:sp>
        <p:nvSpPr>
          <p:cNvPr id="6" name="TextBox 5"/>
          <p:cNvSpPr txBox="1"/>
          <p:nvPr/>
        </p:nvSpPr>
        <p:spPr>
          <a:xfrm>
            <a:off x="5172075" y="4556521"/>
            <a:ext cx="4010025" cy="571500"/>
          </a:xfrm>
          <a:prstGeom prst="rect">
            <a:avLst/>
          </a:prstGeom>
          <a:noFill/>
        </p:spPr>
        <p:txBody>
          <a:bodyPr wrap="square" lIns="0" tIns="0" rIns="0" bIns="0" anchor="t">
            <a:spAutoFit/>
          </a:bodyPr>
          <a:lstStyle/>
          <a:p>
            <a:pPr algn="l"/>
            <a:r>
              <a:rPr sz="1200" b="0" i="0" u="none">
                <a:solidFill>
                  <a:srgbClr val="6B7280"/>
                </a:solidFill>
                <a:latin typeface="Inter SemiBold"/>
              </a:rPr>
              <a:t>Institution</a:t>
            </a:r>
            <a:r>
              <a:rPr sz="1200" b="0" i="0" u="none">
                <a:solidFill>
                  <a:srgbClr val="1F2937"/>
                </a:solidFill>
                <a:latin typeface="Inter"/>
              </a:rPr>
              <a:t> </a:t>
            </a:r>
            <a:r>
              <a:rPr sz="1200" b="0" i="0" u="none">
                <a:solidFill>
                  <a:srgbClr val="111827"/>
                </a:solidFill>
                <a:latin typeface="Inter Medium"/>
              </a:rPr>
              <a:t>KL University CDOE</a:t>
            </a:r>
            <a:r>
              <a:rPr sz="1200" b="0" i="0" u="none">
                <a:solidFill>
                  <a:srgbClr val="1F2937"/>
                </a:solidFill>
                <a:latin typeface="Inter"/>
              </a:rPr>
              <a:t> </a:t>
            </a:r>
            <a:r>
              <a:rPr sz="1200" b="0" i="0" u="none">
                <a:solidFill>
                  <a:srgbClr val="6B7280"/>
                </a:solidFill>
                <a:latin typeface="Inter Medium"/>
              </a:rPr>
              <a:t>Guided by: Dr. Rajeev Kudari / Dr. P Srilatha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400800" y="2547937"/>
            <a:ext cx="5181600" cy="3122116"/>
          </a:xfrm>
          <a:prstGeom prst="rect">
            <a:avLst/>
          </a:prstGeom>
        </p:spPr>
      </p:pic>
      <p:sp>
        <p:nvSpPr>
          <p:cNvPr id="4" name="TextBox 3"/>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Reactive retention strategies waste capital and fail to prevent </a:t>
            </a:r>
            <a:r>
              <a:rPr sz="2400" b="0" i="0" u="none">
                <a:solidFill>
                  <a:srgbClr val="991B1B"/>
                </a:solidFill>
                <a:latin typeface="Inter SemiBold"/>
              </a:rPr>
              <a:t>customer attrition.</a:t>
            </a:r>
          </a:p>
        </p:txBody>
      </p:sp>
      <p:sp>
        <p:nvSpPr>
          <p:cNvPr id="5" name="Rectangle 4"/>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6410325"/>
            <a:ext cx="1373534" cy="142875"/>
          </a:xfrm>
          <a:prstGeom prst="rect">
            <a:avLst/>
          </a:prstGeom>
          <a:noFill/>
        </p:spPr>
        <p:txBody>
          <a:bodyPr wrap="square" lIns="0" tIns="0" rIns="0" bIns="0" anchor="t">
            <a:spAutoFit/>
          </a:bodyPr>
          <a:lstStyle/>
          <a:p>
            <a:pPr algn="l"/>
            <a:r>
              <a:rPr sz="900" b="0" i="0" u="none">
                <a:solidFill>
                  <a:srgbClr val="9CA3AF"/>
                </a:solidFill>
                <a:latin typeface="Inter Medium"/>
              </a:rPr>
              <a:t>PROBLEM STATEMENT</a:t>
            </a:r>
          </a:p>
        </p:txBody>
      </p:sp>
      <p:sp>
        <p:nvSpPr>
          <p:cNvPr id="7" name="TextBox 6"/>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8" name="TextBox 7"/>
          <p:cNvSpPr txBox="1"/>
          <p:nvPr/>
        </p:nvSpPr>
        <p:spPr>
          <a:xfrm>
            <a:off x="609600" y="2828925"/>
            <a:ext cx="5181600" cy="959941"/>
          </a:xfrm>
          <a:prstGeom prst="rect">
            <a:avLst/>
          </a:prstGeom>
          <a:noFill/>
        </p:spPr>
        <p:txBody>
          <a:bodyPr wrap="square" lIns="0" tIns="0" rIns="0" bIns="0" anchor="t">
            <a:spAutoFit/>
          </a:bodyPr>
          <a:lstStyle/>
          <a:p>
            <a:pPr algn="l">
              <a:lnSpc>
                <a:spcPts val="2520"/>
              </a:lnSpc>
            </a:pPr>
            <a:r>
              <a:rPr sz="1800" b="0" i="0" u="none">
                <a:solidFill>
                  <a:srgbClr val="111827"/>
                </a:solidFill>
                <a:latin typeface="Inter Light"/>
              </a:rPr>
              <a:t>Traditional customer relationship management (CRM) relies on intervention only after a cancellation request is submitted.</a:t>
            </a:r>
          </a:p>
        </p:txBody>
      </p:sp>
      <p:sp>
        <p:nvSpPr>
          <p:cNvPr id="9" name="TextBox 8"/>
          <p:cNvSpPr txBox="1"/>
          <p:nvPr/>
        </p:nvSpPr>
        <p:spPr>
          <a:xfrm>
            <a:off x="609600" y="4017466"/>
            <a:ext cx="5181600" cy="1371451"/>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Without an automated, data-driven mechanism to evaluate real-time risk profiles, businesses cannot distinguish between secure clients and those on the verge of leaving. This results in misallocated marketing spend and high customer acquisition costs to replace lost recurring revenue.</a:t>
            </a:r>
          </a:p>
        </p:txBody>
      </p:sp>
      <p:sp>
        <p:nvSpPr>
          <p:cNvPr id="10" name="TextBox 9"/>
          <p:cNvSpPr txBox="1"/>
          <p:nvPr/>
        </p:nvSpPr>
        <p:spPr>
          <a:xfrm>
            <a:off x="6705600" y="2881312"/>
            <a:ext cx="480060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Core Limitations of Current Systems</a:t>
            </a:r>
          </a:p>
        </p:txBody>
      </p:sp>
      <p:sp>
        <p:nvSpPr>
          <p:cNvPr id="11" name="TextBox 10"/>
          <p:cNvSpPr txBox="1"/>
          <p:nvPr/>
        </p:nvSpPr>
        <p:spPr>
          <a:xfrm>
            <a:off x="6934200" y="3262312"/>
            <a:ext cx="4343400" cy="54858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Lack of real-time automated risk evaluation based on billing and contract data.</a:t>
            </a:r>
          </a:p>
        </p:txBody>
      </p:sp>
      <p:sp>
        <p:nvSpPr>
          <p:cNvPr id="12" name="TextBox 11"/>
          <p:cNvSpPr txBox="1"/>
          <p:nvPr/>
        </p:nvSpPr>
        <p:spPr>
          <a:xfrm>
            <a:off x="6934200" y="3963292"/>
            <a:ext cx="4343400" cy="54858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Marketing capital is wasted on broad, untargeted retention campaigns.</a:t>
            </a:r>
          </a:p>
        </p:txBody>
      </p:sp>
      <p:sp>
        <p:nvSpPr>
          <p:cNvPr id="13" name="TextBox 12"/>
          <p:cNvSpPr txBox="1"/>
          <p:nvPr/>
        </p:nvSpPr>
        <p:spPr>
          <a:xfrm>
            <a:off x="6934200" y="4664273"/>
            <a:ext cx="4343400" cy="54858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The cost of acquiring new clients is significantly higher than retaining existing ones.</a:t>
            </a:r>
          </a:p>
        </p:txBody>
      </p:sp>
      <p:sp>
        <p:nvSpPr>
          <p:cNvPr id="14" name="TextBox 13"/>
          <p:cNvSpPr txBox="1"/>
          <p:nvPr/>
        </p:nvSpPr>
        <p:spPr>
          <a:xfrm>
            <a:off x="6705600" y="3262312"/>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5" name="TextBox 14"/>
          <p:cNvSpPr txBox="1"/>
          <p:nvPr/>
        </p:nvSpPr>
        <p:spPr>
          <a:xfrm>
            <a:off x="6705600" y="3963292"/>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6" name="TextBox 15"/>
          <p:cNvSpPr txBox="1"/>
          <p:nvPr/>
        </p:nvSpPr>
        <p:spPr>
          <a:xfrm>
            <a:off x="6705600" y="4664273"/>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09600" y="1931640"/>
            <a:ext cx="5334000" cy="1842045"/>
          </a:xfrm>
          <a:prstGeom prst="rect">
            <a:avLst/>
          </a:prstGeom>
        </p:spPr>
      </p:pic>
      <p:pic>
        <p:nvPicPr>
          <p:cNvPr id="4" name="Picture 3" descr="image.png"/>
          <p:cNvPicPr>
            <a:picLocks noChangeAspect="1"/>
          </p:cNvPicPr>
          <p:nvPr/>
        </p:nvPicPr>
        <p:blipFill>
          <a:blip r:embed="rId3"/>
          <a:stretch>
            <a:fillRect/>
          </a:stretch>
        </p:blipFill>
        <p:spPr>
          <a:xfrm>
            <a:off x="6248400" y="1931640"/>
            <a:ext cx="5334000" cy="1842045"/>
          </a:xfrm>
          <a:prstGeom prst="rect">
            <a:avLst/>
          </a:prstGeom>
        </p:spPr>
      </p:pic>
      <p:pic>
        <p:nvPicPr>
          <p:cNvPr id="5" name="Picture 4" descr="image.png"/>
          <p:cNvPicPr>
            <a:picLocks noChangeAspect="1"/>
          </p:cNvPicPr>
          <p:nvPr/>
        </p:nvPicPr>
        <p:blipFill>
          <a:blip r:embed="rId4"/>
          <a:stretch>
            <a:fillRect/>
          </a:stretch>
        </p:blipFill>
        <p:spPr>
          <a:xfrm>
            <a:off x="609600" y="4078485"/>
            <a:ext cx="5334000" cy="1842045"/>
          </a:xfrm>
          <a:prstGeom prst="rect">
            <a:avLst/>
          </a:prstGeom>
        </p:spPr>
      </p:pic>
      <p:pic>
        <p:nvPicPr>
          <p:cNvPr id="6" name="Picture 5" descr="image.png"/>
          <p:cNvPicPr>
            <a:picLocks noChangeAspect="1"/>
          </p:cNvPicPr>
          <p:nvPr/>
        </p:nvPicPr>
        <p:blipFill>
          <a:blip r:embed="rId4"/>
          <a:stretch>
            <a:fillRect/>
          </a:stretch>
        </p:blipFill>
        <p:spPr>
          <a:xfrm>
            <a:off x="6248400" y="4078485"/>
            <a:ext cx="5334000" cy="1842045"/>
          </a:xfrm>
          <a:prstGeom prst="rect">
            <a:avLst/>
          </a:prstGeom>
        </p:spPr>
      </p:pic>
      <p:sp>
        <p:nvSpPr>
          <p:cNvPr id="7" name="TextBox 6"/>
          <p:cNvSpPr txBox="1"/>
          <p:nvPr/>
        </p:nvSpPr>
        <p:spPr>
          <a:xfrm>
            <a:off x="609600" y="457200"/>
            <a:ext cx="11521440" cy="384720"/>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The objective is to build a proactive, real-time </a:t>
            </a:r>
            <a:r>
              <a:rPr sz="2400" b="0" i="0" u="none">
                <a:solidFill>
                  <a:srgbClr val="991B1B"/>
                </a:solidFill>
                <a:latin typeface="Inter SemiBold"/>
              </a:rPr>
              <a:t>churn prediction pipeline.</a:t>
            </a:r>
          </a:p>
        </p:txBody>
      </p:sp>
      <p:sp>
        <p:nvSpPr>
          <p:cNvPr id="8" name="Rectangle 7"/>
          <p:cNvSpPr/>
          <p:nvPr/>
        </p:nvSpPr>
        <p:spPr>
          <a:xfrm>
            <a:off x="609600" y="975270"/>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6410325"/>
            <a:ext cx="1341239" cy="142875"/>
          </a:xfrm>
          <a:prstGeom prst="rect">
            <a:avLst/>
          </a:prstGeom>
          <a:noFill/>
        </p:spPr>
        <p:txBody>
          <a:bodyPr wrap="square" lIns="0" tIns="0" rIns="0" bIns="0" anchor="t">
            <a:spAutoFit/>
          </a:bodyPr>
          <a:lstStyle/>
          <a:p>
            <a:pPr algn="l"/>
            <a:r>
              <a:rPr sz="900" b="0" i="0" u="none">
                <a:solidFill>
                  <a:srgbClr val="9CA3AF"/>
                </a:solidFill>
                <a:latin typeface="Inter Medium"/>
              </a:rPr>
              <a:t>OBJECTIVES &amp; SCOPE</a:t>
            </a:r>
          </a:p>
        </p:txBody>
      </p:sp>
      <p:sp>
        <p:nvSpPr>
          <p:cNvPr id="10" name="TextBox 9"/>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11" name="TextBox 10"/>
          <p:cNvSpPr txBox="1"/>
          <p:nvPr/>
        </p:nvSpPr>
        <p:spPr>
          <a:xfrm>
            <a:off x="914400" y="2265015"/>
            <a:ext cx="496062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1. Data Engineering</a:t>
            </a:r>
          </a:p>
        </p:txBody>
      </p:sp>
      <p:sp>
        <p:nvSpPr>
          <p:cNvPr id="12" name="TextBox 11"/>
          <p:cNvSpPr txBox="1"/>
          <p:nvPr/>
        </p:nvSpPr>
        <p:spPr>
          <a:xfrm>
            <a:off x="914400" y="2646015"/>
            <a:ext cx="47244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Design and implement a synthetic dataset generation script that accurately replicates real-world telecom customer demographic and billing behavior.</a:t>
            </a:r>
          </a:p>
        </p:txBody>
      </p:sp>
      <p:sp>
        <p:nvSpPr>
          <p:cNvPr id="13" name="TextBox 12"/>
          <p:cNvSpPr txBox="1"/>
          <p:nvPr/>
        </p:nvSpPr>
        <p:spPr>
          <a:xfrm>
            <a:off x="6553200" y="2265015"/>
            <a:ext cx="496062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2. Pipeline Automation</a:t>
            </a:r>
          </a:p>
        </p:txBody>
      </p:sp>
      <p:sp>
        <p:nvSpPr>
          <p:cNvPr id="14" name="TextBox 13"/>
          <p:cNvSpPr txBox="1"/>
          <p:nvPr/>
        </p:nvSpPr>
        <p:spPr>
          <a:xfrm>
            <a:off x="6553200" y="2646015"/>
            <a:ext cx="47244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Build an automated preprocessing pipeline that seamlessly handles categorical label encoding and standard numerical scaling for model ingestion.</a:t>
            </a:r>
          </a:p>
        </p:txBody>
      </p:sp>
      <p:sp>
        <p:nvSpPr>
          <p:cNvPr id="15" name="TextBox 14"/>
          <p:cNvSpPr txBox="1"/>
          <p:nvPr/>
        </p:nvSpPr>
        <p:spPr>
          <a:xfrm>
            <a:off x="914400" y="4411860"/>
            <a:ext cx="496062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3. Model Training</a:t>
            </a:r>
          </a:p>
        </p:txBody>
      </p:sp>
      <p:sp>
        <p:nvSpPr>
          <p:cNvPr id="16" name="TextBox 15"/>
          <p:cNvSpPr txBox="1"/>
          <p:nvPr/>
        </p:nvSpPr>
        <p:spPr>
          <a:xfrm>
            <a:off x="914400" y="4792860"/>
            <a:ext cx="47244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Train and evaluate an ensemble Machine Learning model (Random Forest Classifier) to accurately classify binary churn risk.</a:t>
            </a:r>
          </a:p>
        </p:txBody>
      </p:sp>
      <p:sp>
        <p:nvSpPr>
          <p:cNvPr id="17" name="TextBox 16"/>
          <p:cNvSpPr txBox="1"/>
          <p:nvPr/>
        </p:nvSpPr>
        <p:spPr>
          <a:xfrm>
            <a:off x="6553200" y="4411860"/>
            <a:ext cx="496062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4. Web Deployment</a:t>
            </a:r>
          </a:p>
        </p:txBody>
      </p:sp>
      <p:sp>
        <p:nvSpPr>
          <p:cNvPr id="18" name="TextBox 17"/>
          <p:cNvSpPr txBox="1"/>
          <p:nvPr/>
        </p:nvSpPr>
        <p:spPr>
          <a:xfrm>
            <a:off x="6553200" y="4792860"/>
            <a:ext cx="47244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Serialize trained model artifacts for offline inference and deploy an interactive Streamlit web application for real-time stakeholder decision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400800" y="1817191"/>
            <a:ext cx="5181600" cy="3078212"/>
          </a:xfrm>
          <a:prstGeom prst="rect">
            <a:avLst/>
          </a:prstGeom>
        </p:spPr>
      </p:pic>
      <p:sp>
        <p:nvSpPr>
          <p:cNvPr id="4" name="TextBox 3"/>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Predictive CRM modeling favors </a:t>
            </a:r>
            <a:r>
              <a:rPr sz="2400" b="0" i="0" u="none">
                <a:solidFill>
                  <a:srgbClr val="991B1B"/>
                </a:solidFill>
                <a:latin typeface="Inter SemiBold"/>
              </a:rPr>
              <a:t>ensemble machine learning</a:t>
            </a:r>
            <a:r>
              <a:rPr sz="2400" b="0" i="0" u="none">
                <a:solidFill>
                  <a:srgbClr val="111827"/>
                </a:solidFill>
                <a:latin typeface="Inter SemiBold"/>
              </a:rPr>
              <a:t> for complex interactions.</a:t>
            </a:r>
          </a:p>
        </p:txBody>
      </p:sp>
      <p:sp>
        <p:nvSpPr>
          <p:cNvPr id="5" name="Rectangle 4"/>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6410325"/>
            <a:ext cx="1259234" cy="142875"/>
          </a:xfrm>
          <a:prstGeom prst="rect">
            <a:avLst/>
          </a:prstGeom>
          <a:noFill/>
        </p:spPr>
        <p:txBody>
          <a:bodyPr wrap="square" lIns="0" tIns="0" rIns="0" bIns="0" anchor="t">
            <a:spAutoFit/>
          </a:bodyPr>
          <a:lstStyle/>
          <a:p>
            <a:pPr algn="l"/>
            <a:r>
              <a:rPr sz="900" b="0" i="0" u="none">
                <a:solidFill>
                  <a:srgbClr val="9CA3AF"/>
                </a:solidFill>
                <a:latin typeface="Inter Medium"/>
              </a:rPr>
              <a:t>LITERATURE REVIEW</a:t>
            </a:r>
          </a:p>
        </p:txBody>
      </p:sp>
      <p:sp>
        <p:nvSpPr>
          <p:cNvPr id="7" name="TextBox 6"/>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8" name="TextBox 7"/>
          <p:cNvSpPr txBox="1"/>
          <p:nvPr/>
        </p:nvSpPr>
        <p:spPr>
          <a:xfrm>
            <a:off x="609600" y="1817191"/>
            <a:ext cx="544068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Evolution of CRM Analytics</a:t>
            </a:r>
          </a:p>
        </p:txBody>
      </p:sp>
      <p:sp>
        <p:nvSpPr>
          <p:cNvPr id="9" name="TextBox 8"/>
          <p:cNvSpPr txBox="1"/>
          <p:nvPr/>
        </p:nvSpPr>
        <p:spPr>
          <a:xfrm>
            <a:off x="609600" y="2198191"/>
            <a:ext cx="51816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Predictive modeling in customer relationship management has evolved significantly from classical statistical regressions to advanced ensemble machine learning techniques.</a:t>
            </a:r>
          </a:p>
        </p:txBody>
      </p:sp>
      <p:sp>
        <p:nvSpPr>
          <p:cNvPr id="10" name="TextBox 9"/>
          <p:cNvSpPr txBox="1"/>
          <p:nvPr/>
        </p:nvSpPr>
        <p:spPr>
          <a:xfrm>
            <a:off x="609600" y="3249662"/>
            <a:ext cx="5181600" cy="1645741"/>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Research demonstrates that tree-based algorithms—specifically Random Forests—excel in tabular business datasets. This is due to their immunity to feature scale variations and their unique ability to capture non-linear interactions between diverse metrics like customer tenure, billing tiers, and service options.</a:t>
            </a:r>
          </a:p>
        </p:txBody>
      </p:sp>
      <p:sp>
        <p:nvSpPr>
          <p:cNvPr id="11" name="TextBox 10"/>
          <p:cNvSpPr txBox="1"/>
          <p:nvPr/>
        </p:nvSpPr>
        <p:spPr>
          <a:xfrm>
            <a:off x="6705600" y="2150566"/>
            <a:ext cx="480060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Deployment Criticality</a:t>
            </a:r>
          </a:p>
        </p:txBody>
      </p:sp>
      <p:sp>
        <p:nvSpPr>
          <p:cNvPr id="12" name="TextBox 11"/>
          <p:cNvSpPr txBox="1"/>
          <p:nvPr/>
        </p:nvSpPr>
        <p:spPr>
          <a:xfrm>
            <a:off x="6705600" y="2531566"/>
            <a:ext cx="4572000" cy="54858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Current literature emphasizes that a model's predictive power is only as good as its deployment pipeline.</a:t>
            </a:r>
          </a:p>
        </p:txBody>
      </p:sp>
      <p:sp>
        <p:nvSpPr>
          <p:cNvPr id="13" name="TextBox 12"/>
          <p:cNvSpPr txBox="1"/>
          <p:nvPr/>
        </p:nvSpPr>
        <p:spPr>
          <a:xfrm>
            <a:off x="6705600" y="3232546"/>
            <a:ext cx="4572000" cy="109716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Serializing trained preprocessing scalers alongside model weights is identified as a critical best practice to maintain strict data consistency during real-time web inference, preventing silent failures in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09600" y="3956744"/>
            <a:ext cx="2413992" cy="1485602"/>
          </a:xfrm>
          <a:prstGeom prst="rect">
            <a:avLst/>
          </a:prstGeom>
        </p:spPr>
      </p:pic>
      <p:pic>
        <p:nvPicPr>
          <p:cNvPr id="4" name="Picture 3" descr="image.png"/>
          <p:cNvPicPr>
            <a:picLocks noChangeAspect="1"/>
          </p:cNvPicPr>
          <p:nvPr/>
        </p:nvPicPr>
        <p:blipFill>
          <a:blip r:embed="rId4"/>
          <a:stretch>
            <a:fillRect/>
          </a:stretch>
        </p:blipFill>
        <p:spPr>
          <a:xfrm>
            <a:off x="3462337" y="4040534"/>
            <a:ext cx="2413992" cy="1318021"/>
          </a:xfrm>
          <a:prstGeom prst="rect">
            <a:avLst/>
          </a:prstGeom>
        </p:spPr>
      </p:pic>
      <p:pic>
        <p:nvPicPr>
          <p:cNvPr id="5" name="Picture 4" descr="image.png"/>
          <p:cNvPicPr>
            <a:picLocks noChangeAspect="1"/>
          </p:cNvPicPr>
          <p:nvPr/>
        </p:nvPicPr>
        <p:blipFill>
          <a:blip r:embed="rId5"/>
          <a:stretch>
            <a:fillRect/>
          </a:stretch>
        </p:blipFill>
        <p:spPr>
          <a:xfrm>
            <a:off x="6315075" y="3947219"/>
            <a:ext cx="2413992" cy="1504652"/>
          </a:xfrm>
          <a:prstGeom prst="rect">
            <a:avLst/>
          </a:prstGeom>
        </p:spPr>
      </p:pic>
      <p:pic>
        <p:nvPicPr>
          <p:cNvPr id="6" name="Picture 5" descr="image.png"/>
          <p:cNvPicPr>
            <a:picLocks noChangeAspect="1"/>
          </p:cNvPicPr>
          <p:nvPr/>
        </p:nvPicPr>
        <p:blipFill>
          <a:blip r:embed="rId6"/>
          <a:stretch>
            <a:fillRect/>
          </a:stretch>
        </p:blipFill>
        <p:spPr>
          <a:xfrm>
            <a:off x="9167812" y="4040534"/>
            <a:ext cx="2413992" cy="1318021"/>
          </a:xfrm>
          <a:prstGeom prst="rect">
            <a:avLst/>
          </a:prstGeom>
        </p:spPr>
      </p:pic>
      <p:sp>
        <p:nvSpPr>
          <p:cNvPr id="7" name="TextBox 6"/>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The system architecture integrates data generation, preprocessing, and </a:t>
            </a:r>
            <a:r>
              <a:rPr sz="2400" b="0" i="0" u="none">
                <a:solidFill>
                  <a:srgbClr val="991B1B"/>
                </a:solidFill>
                <a:latin typeface="Inter SemiBold"/>
              </a:rPr>
              <a:t>web deployment.</a:t>
            </a:r>
          </a:p>
        </p:txBody>
      </p:sp>
      <p:sp>
        <p:nvSpPr>
          <p:cNvPr id="8" name="Rectangle 7"/>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23440" y="1709479"/>
            <a:ext cx="7620000" cy="609600"/>
          </a:xfrm>
          <a:prstGeom prst="rect">
            <a:avLst/>
          </a:prstGeom>
          <a:noFill/>
        </p:spPr>
        <p:txBody>
          <a:bodyPr wrap="square" lIns="0" tIns="0" rIns="0" bIns="0" anchor="t">
            <a:spAutoFit/>
          </a:bodyPr>
          <a:lstStyle/>
          <a:p>
            <a:pPr algn="ctr">
              <a:lnSpc>
                <a:spcPts val="2400"/>
              </a:lnSpc>
            </a:pPr>
            <a:r>
              <a:rPr sz="1500" b="0" i="0" u="none">
                <a:solidFill>
                  <a:srgbClr val="374151"/>
                </a:solidFill>
                <a:latin typeface="Inter"/>
              </a:rPr>
              <a:t>A strict 4-stage operational pipeline ensures that raw inputs are processed identically during both the training phase and live production inference.</a:t>
            </a:r>
          </a:p>
        </p:txBody>
      </p:sp>
      <p:sp>
        <p:nvSpPr>
          <p:cNvPr id="10" name="TextBox 9"/>
          <p:cNvSpPr txBox="1"/>
          <p:nvPr/>
        </p:nvSpPr>
        <p:spPr>
          <a:xfrm>
            <a:off x="609600" y="6410325"/>
            <a:ext cx="1508819" cy="142875"/>
          </a:xfrm>
          <a:prstGeom prst="rect">
            <a:avLst/>
          </a:prstGeom>
          <a:noFill/>
        </p:spPr>
        <p:txBody>
          <a:bodyPr wrap="square" lIns="0" tIns="0" rIns="0" bIns="0" anchor="t">
            <a:spAutoFit/>
          </a:bodyPr>
          <a:lstStyle/>
          <a:p>
            <a:pPr algn="l"/>
            <a:r>
              <a:rPr sz="900" b="0" i="0" u="none">
                <a:solidFill>
                  <a:srgbClr val="9CA3AF"/>
                </a:solidFill>
                <a:latin typeface="Inter Medium"/>
              </a:rPr>
              <a:t>SYSTEM ARCHITECTURE</a:t>
            </a:r>
          </a:p>
        </p:txBody>
      </p:sp>
      <p:sp>
        <p:nvSpPr>
          <p:cNvPr id="11" name="TextBox 10"/>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12" name="TextBox 11"/>
          <p:cNvSpPr txBox="1"/>
          <p:nvPr/>
        </p:nvSpPr>
        <p:spPr>
          <a:xfrm>
            <a:off x="3142952" y="4561433"/>
            <a:ext cx="200025" cy="276225"/>
          </a:xfrm>
          <a:prstGeom prst="rect">
            <a:avLst/>
          </a:prstGeom>
          <a:noFill/>
        </p:spPr>
        <p:txBody>
          <a:bodyPr wrap="square" lIns="0" tIns="0" rIns="0" bIns="0" anchor="t">
            <a:spAutoFit/>
          </a:bodyPr>
          <a:lstStyle/>
          <a:p>
            <a:pPr algn="l"/>
            <a:r>
              <a:rPr sz="1800" b="0" i="0" u="none">
                <a:solidFill>
                  <a:srgbClr val="9CA3AF"/>
                </a:solidFill>
                <a:latin typeface="Inter Light"/>
              </a:rPr>
              <a:t>➔</a:t>
            </a:r>
          </a:p>
        </p:txBody>
      </p:sp>
      <p:sp>
        <p:nvSpPr>
          <p:cNvPr id="13" name="TextBox 12"/>
          <p:cNvSpPr txBox="1"/>
          <p:nvPr/>
        </p:nvSpPr>
        <p:spPr>
          <a:xfrm>
            <a:off x="5995689" y="4561433"/>
            <a:ext cx="200025" cy="276225"/>
          </a:xfrm>
          <a:prstGeom prst="rect">
            <a:avLst/>
          </a:prstGeom>
          <a:noFill/>
        </p:spPr>
        <p:txBody>
          <a:bodyPr wrap="square" lIns="0" tIns="0" rIns="0" bIns="0" anchor="t">
            <a:spAutoFit/>
          </a:bodyPr>
          <a:lstStyle/>
          <a:p>
            <a:pPr algn="l"/>
            <a:r>
              <a:rPr sz="1800" b="0" i="0" u="none">
                <a:solidFill>
                  <a:srgbClr val="9CA3AF"/>
                </a:solidFill>
                <a:latin typeface="Inter Light"/>
              </a:rPr>
              <a:t>➔</a:t>
            </a:r>
          </a:p>
        </p:txBody>
      </p:sp>
      <p:sp>
        <p:nvSpPr>
          <p:cNvPr id="14" name="TextBox 13"/>
          <p:cNvSpPr txBox="1"/>
          <p:nvPr/>
        </p:nvSpPr>
        <p:spPr>
          <a:xfrm>
            <a:off x="8848427" y="4561433"/>
            <a:ext cx="200025" cy="276225"/>
          </a:xfrm>
          <a:prstGeom prst="rect">
            <a:avLst/>
          </a:prstGeom>
          <a:noFill/>
        </p:spPr>
        <p:txBody>
          <a:bodyPr wrap="square" lIns="0" tIns="0" rIns="0" bIns="0" anchor="t">
            <a:spAutoFit/>
          </a:bodyPr>
          <a:lstStyle/>
          <a:p>
            <a:pPr algn="l"/>
            <a:r>
              <a:rPr sz="1800" b="0" i="0" u="none">
                <a:solidFill>
                  <a:srgbClr val="9CA3AF"/>
                </a:solidFill>
                <a:latin typeface="Inter Light"/>
              </a:rPr>
              <a:t>➔</a:t>
            </a:r>
          </a:p>
        </p:txBody>
      </p:sp>
      <p:sp>
        <p:nvSpPr>
          <p:cNvPr id="15" name="TextBox 14"/>
          <p:cNvSpPr txBox="1"/>
          <p:nvPr/>
        </p:nvSpPr>
        <p:spPr>
          <a:xfrm>
            <a:off x="1376541" y="4271069"/>
            <a:ext cx="880110" cy="182760"/>
          </a:xfrm>
          <a:prstGeom prst="rect">
            <a:avLst/>
          </a:prstGeom>
          <a:noFill/>
        </p:spPr>
        <p:txBody>
          <a:bodyPr wrap="square" lIns="0" tIns="0" rIns="0" bIns="0" anchor="t">
            <a:spAutoFit/>
          </a:bodyPr>
          <a:lstStyle/>
          <a:p>
            <a:pPr algn="ctr">
              <a:lnSpc>
                <a:spcPts val="1439"/>
              </a:lnSpc>
            </a:pPr>
            <a:r>
              <a:rPr sz="1200" b="0" i="0" u="none">
                <a:solidFill>
                  <a:srgbClr val="111827"/>
                </a:solidFill>
                <a:latin typeface="Inter SemiBold"/>
              </a:rPr>
              <a:t>1. Raw Data</a:t>
            </a:r>
          </a:p>
        </p:txBody>
      </p:sp>
      <p:sp>
        <p:nvSpPr>
          <p:cNvPr id="16" name="TextBox 15"/>
          <p:cNvSpPr txBox="1"/>
          <p:nvPr/>
        </p:nvSpPr>
        <p:spPr>
          <a:xfrm>
            <a:off x="771525" y="4568130"/>
            <a:ext cx="2090142" cy="559891"/>
          </a:xfrm>
          <a:prstGeom prst="rect">
            <a:avLst/>
          </a:prstGeom>
          <a:noFill/>
        </p:spPr>
        <p:txBody>
          <a:bodyPr wrap="square" lIns="0" tIns="0" rIns="0" bIns="0" anchor="t">
            <a:spAutoFit/>
          </a:bodyPr>
          <a:lstStyle/>
          <a:p>
            <a:pPr algn="ctr">
              <a:lnSpc>
                <a:spcPts val="1470"/>
              </a:lnSpc>
            </a:pPr>
            <a:r>
              <a:rPr sz="1050" b="0" i="0" u="none">
                <a:solidFill>
                  <a:srgbClr val="6B7280"/>
                </a:solidFill>
                <a:latin typeface="Inter"/>
              </a:rPr>
              <a:t>Generation of synthetic demographic, contract, and billing metrics.</a:t>
            </a:r>
          </a:p>
        </p:txBody>
      </p:sp>
      <p:sp>
        <p:nvSpPr>
          <p:cNvPr id="17" name="TextBox 16"/>
          <p:cNvSpPr txBox="1"/>
          <p:nvPr/>
        </p:nvSpPr>
        <p:spPr>
          <a:xfrm>
            <a:off x="4019252" y="4373909"/>
            <a:ext cx="1300162" cy="182760"/>
          </a:xfrm>
          <a:prstGeom prst="rect">
            <a:avLst/>
          </a:prstGeom>
          <a:noFill/>
        </p:spPr>
        <p:txBody>
          <a:bodyPr wrap="square" lIns="0" tIns="0" rIns="0" bIns="0" anchor="t">
            <a:spAutoFit/>
          </a:bodyPr>
          <a:lstStyle/>
          <a:p>
            <a:pPr algn="ctr">
              <a:lnSpc>
                <a:spcPts val="1439"/>
              </a:lnSpc>
            </a:pPr>
            <a:r>
              <a:rPr sz="1200" b="0" i="0" u="none">
                <a:solidFill>
                  <a:srgbClr val="111827"/>
                </a:solidFill>
                <a:latin typeface="Inter SemiBold"/>
              </a:rPr>
              <a:t>2. Preprocessing</a:t>
            </a:r>
          </a:p>
        </p:txBody>
      </p:sp>
      <p:sp>
        <p:nvSpPr>
          <p:cNvPr id="18" name="TextBox 17"/>
          <p:cNvSpPr txBox="1"/>
          <p:nvPr/>
        </p:nvSpPr>
        <p:spPr>
          <a:xfrm>
            <a:off x="3624262" y="4670970"/>
            <a:ext cx="2090142" cy="373260"/>
          </a:xfrm>
          <a:prstGeom prst="rect">
            <a:avLst/>
          </a:prstGeom>
          <a:noFill/>
        </p:spPr>
        <p:txBody>
          <a:bodyPr wrap="square" lIns="0" tIns="0" rIns="0" bIns="0" anchor="t">
            <a:spAutoFit/>
          </a:bodyPr>
          <a:lstStyle/>
          <a:p>
            <a:pPr algn="ctr">
              <a:lnSpc>
                <a:spcPts val="1470"/>
              </a:lnSpc>
            </a:pPr>
            <a:r>
              <a:rPr sz="1050" b="0" i="0" u="none">
                <a:solidFill>
                  <a:srgbClr val="6B7280"/>
                </a:solidFill>
                <a:latin typeface="Inter"/>
              </a:rPr>
              <a:t>Label Encoding and Standard Scaling (train.py execution).</a:t>
            </a:r>
          </a:p>
        </p:txBody>
      </p:sp>
      <p:sp>
        <p:nvSpPr>
          <p:cNvPr id="19" name="TextBox 18"/>
          <p:cNvSpPr txBox="1"/>
          <p:nvPr/>
        </p:nvSpPr>
        <p:spPr>
          <a:xfrm>
            <a:off x="6957000" y="4280594"/>
            <a:ext cx="1130141" cy="182760"/>
          </a:xfrm>
          <a:prstGeom prst="rect">
            <a:avLst/>
          </a:prstGeom>
          <a:noFill/>
        </p:spPr>
        <p:txBody>
          <a:bodyPr wrap="square" lIns="0" tIns="0" rIns="0" bIns="0" anchor="t">
            <a:spAutoFit/>
          </a:bodyPr>
          <a:lstStyle/>
          <a:p>
            <a:pPr algn="ctr">
              <a:lnSpc>
                <a:spcPts val="1439"/>
              </a:lnSpc>
            </a:pPr>
            <a:r>
              <a:rPr sz="1200" b="0" i="0" u="none">
                <a:solidFill>
                  <a:srgbClr val="111827"/>
                </a:solidFill>
                <a:latin typeface="Inter SemiBold"/>
              </a:rPr>
              <a:t>3. Serialization</a:t>
            </a:r>
          </a:p>
        </p:txBody>
      </p:sp>
      <p:sp>
        <p:nvSpPr>
          <p:cNvPr id="20" name="TextBox 19"/>
          <p:cNvSpPr txBox="1"/>
          <p:nvPr/>
        </p:nvSpPr>
        <p:spPr>
          <a:xfrm>
            <a:off x="6477000" y="4577655"/>
            <a:ext cx="2090142" cy="559891"/>
          </a:xfrm>
          <a:prstGeom prst="rect">
            <a:avLst/>
          </a:prstGeom>
          <a:noFill/>
        </p:spPr>
        <p:txBody>
          <a:bodyPr wrap="square" lIns="0" tIns="0" rIns="0" bIns="0" anchor="t">
            <a:spAutoFit/>
          </a:bodyPr>
          <a:lstStyle/>
          <a:p>
            <a:pPr algn="ctr">
              <a:lnSpc>
                <a:spcPts val="1470"/>
              </a:lnSpc>
            </a:pPr>
            <a:r>
              <a:rPr sz="1050" b="0" i="0" u="none">
                <a:solidFill>
                  <a:srgbClr val="6B7280"/>
                </a:solidFill>
                <a:latin typeface="Inter"/>
              </a:rPr>
              <a:t>Exporting model weights (model.pkl) and transformations (scaler.pkl).</a:t>
            </a:r>
          </a:p>
        </p:txBody>
      </p:sp>
      <p:sp>
        <p:nvSpPr>
          <p:cNvPr id="21" name="TextBox 20"/>
          <p:cNvSpPr txBox="1"/>
          <p:nvPr/>
        </p:nvSpPr>
        <p:spPr>
          <a:xfrm>
            <a:off x="9729727" y="4373909"/>
            <a:ext cx="1290161" cy="182760"/>
          </a:xfrm>
          <a:prstGeom prst="rect">
            <a:avLst/>
          </a:prstGeom>
          <a:noFill/>
        </p:spPr>
        <p:txBody>
          <a:bodyPr wrap="square" lIns="0" tIns="0" rIns="0" bIns="0" anchor="t">
            <a:spAutoFit/>
          </a:bodyPr>
          <a:lstStyle/>
          <a:p>
            <a:pPr algn="ctr">
              <a:lnSpc>
                <a:spcPts val="1439"/>
              </a:lnSpc>
            </a:pPr>
            <a:r>
              <a:rPr sz="1200" b="0" i="0" u="none">
                <a:solidFill>
                  <a:srgbClr val="111827"/>
                </a:solidFill>
                <a:latin typeface="Inter SemiBold"/>
              </a:rPr>
              <a:t>4. Web Inference</a:t>
            </a:r>
          </a:p>
        </p:txBody>
      </p:sp>
      <p:sp>
        <p:nvSpPr>
          <p:cNvPr id="22" name="TextBox 21"/>
          <p:cNvSpPr txBox="1"/>
          <p:nvPr/>
        </p:nvSpPr>
        <p:spPr>
          <a:xfrm>
            <a:off x="9329737" y="4670970"/>
            <a:ext cx="2090142" cy="373260"/>
          </a:xfrm>
          <a:prstGeom prst="rect">
            <a:avLst/>
          </a:prstGeom>
          <a:noFill/>
        </p:spPr>
        <p:txBody>
          <a:bodyPr wrap="square" lIns="0" tIns="0" rIns="0" bIns="0" anchor="t">
            <a:spAutoFit/>
          </a:bodyPr>
          <a:lstStyle/>
          <a:p>
            <a:pPr algn="ctr">
              <a:lnSpc>
                <a:spcPts val="1470"/>
              </a:lnSpc>
            </a:pPr>
            <a:r>
              <a:rPr sz="1050" b="0" i="0" u="none">
                <a:solidFill>
                  <a:srgbClr val="6B7280"/>
                </a:solidFill>
                <a:latin typeface="Inter"/>
              </a:rPr>
              <a:t>Streamlit UI loads assets for real-time stakeholder queries.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09600" y="2807791"/>
            <a:ext cx="5181600" cy="2946796"/>
          </a:xfrm>
          <a:prstGeom prst="rect">
            <a:avLst/>
          </a:prstGeom>
        </p:spPr>
      </p:pic>
      <p:pic>
        <p:nvPicPr>
          <p:cNvPr id="4" name="Picture 3" descr="image.png"/>
          <p:cNvPicPr>
            <a:picLocks noChangeAspect="1"/>
          </p:cNvPicPr>
          <p:nvPr/>
        </p:nvPicPr>
        <p:blipFill>
          <a:blip r:embed="rId3"/>
          <a:stretch>
            <a:fillRect/>
          </a:stretch>
        </p:blipFill>
        <p:spPr>
          <a:xfrm>
            <a:off x="6400800" y="2807791"/>
            <a:ext cx="5181600" cy="2946796"/>
          </a:xfrm>
          <a:prstGeom prst="rect">
            <a:avLst/>
          </a:prstGeom>
        </p:spPr>
      </p:pic>
      <p:sp>
        <p:nvSpPr>
          <p:cNvPr id="5" name="TextBox 4"/>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Preprocessing transforms text and scales continuous variables for </a:t>
            </a:r>
            <a:r>
              <a:rPr sz="2400" b="0" i="0" u="none">
                <a:solidFill>
                  <a:srgbClr val="991B1B"/>
                </a:solidFill>
                <a:latin typeface="Inter SemiBold"/>
              </a:rPr>
              <a:t>model ingestion.</a:t>
            </a:r>
          </a:p>
        </p:txBody>
      </p:sp>
      <p:sp>
        <p:nvSpPr>
          <p:cNvPr id="6" name="Rectangle 5"/>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1817191"/>
            <a:ext cx="10972800" cy="609600"/>
          </a:xfrm>
          <a:prstGeom prst="rect">
            <a:avLst/>
          </a:prstGeom>
          <a:noFill/>
        </p:spPr>
        <p:txBody>
          <a:bodyPr wrap="square" lIns="0" tIns="0" rIns="0" bIns="0" anchor="t">
            <a:spAutoFit/>
          </a:bodyPr>
          <a:lstStyle/>
          <a:p>
            <a:pPr algn="l">
              <a:lnSpc>
                <a:spcPts val="2400"/>
              </a:lnSpc>
            </a:pPr>
            <a:r>
              <a:rPr sz="1500" b="0" i="0" u="none">
                <a:solidFill>
                  <a:srgbClr val="374151"/>
                </a:solidFill>
                <a:latin typeface="Inter"/>
              </a:rPr>
              <a:t>Machine Learning models operate strictly on numerical matrices. The preprocessing pipeline handles two mandatory structural transformations before the data reaches the prediction engine.</a:t>
            </a:r>
          </a:p>
        </p:txBody>
      </p:sp>
      <p:sp>
        <p:nvSpPr>
          <p:cNvPr id="8" name="TextBox 7"/>
          <p:cNvSpPr txBox="1"/>
          <p:nvPr/>
        </p:nvSpPr>
        <p:spPr>
          <a:xfrm>
            <a:off x="609600" y="6410325"/>
            <a:ext cx="1407914" cy="142875"/>
          </a:xfrm>
          <a:prstGeom prst="rect">
            <a:avLst/>
          </a:prstGeom>
          <a:noFill/>
        </p:spPr>
        <p:txBody>
          <a:bodyPr wrap="square" lIns="0" tIns="0" rIns="0" bIns="0" anchor="t">
            <a:spAutoFit/>
          </a:bodyPr>
          <a:lstStyle/>
          <a:p>
            <a:pPr algn="l"/>
            <a:r>
              <a:rPr sz="900" b="0" i="0" u="none">
                <a:solidFill>
                  <a:srgbClr val="9CA3AF"/>
                </a:solidFill>
                <a:latin typeface="Inter Medium"/>
              </a:rPr>
              <a:t>DATA PREPROCESSING</a:t>
            </a:r>
          </a:p>
        </p:txBody>
      </p:sp>
      <p:sp>
        <p:nvSpPr>
          <p:cNvPr id="9" name="TextBox 8"/>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10" name="TextBox 9"/>
          <p:cNvSpPr txBox="1"/>
          <p:nvPr/>
        </p:nvSpPr>
        <p:spPr>
          <a:xfrm>
            <a:off x="914400" y="3141166"/>
            <a:ext cx="4800600" cy="159990"/>
          </a:xfrm>
          <a:prstGeom prst="rect">
            <a:avLst/>
          </a:prstGeom>
          <a:noFill/>
        </p:spPr>
        <p:txBody>
          <a:bodyPr wrap="square" lIns="0" tIns="0" rIns="0" bIns="0" anchor="t">
            <a:spAutoFit/>
          </a:bodyPr>
          <a:lstStyle/>
          <a:p>
            <a:pPr algn="l">
              <a:lnSpc>
                <a:spcPts val="1260"/>
              </a:lnSpc>
            </a:pPr>
            <a:r>
              <a:rPr sz="1050" b="0" i="0" u="none">
                <a:solidFill>
                  <a:srgbClr val="4B5563"/>
                </a:solidFill>
                <a:latin typeface="Inter SemiBold"/>
              </a:rPr>
              <a:t>TRANSFORMATION 1</a:t>
            </a:r>
          </a:p>
        </p:txBody>
      </p:sp>
      <p:sp>
        <p:nvSpPr>
          <p:cNvPr id="11" name="TextBox 10"/>
          <p:cNvSpPr txBox="1"/>
          <p:nvPr/>
        </p:nvSpPr>
        <p:spPr>
          <a:xfrm>
            <a:off x="914400" y="3377356"/>
            <a:ext cx="4800600" cy="274290"/>
          </a:xfrm>
          <a:prstGeom prst="rect">
            <a:avLst/>
          </a:prstGeom>
          <a:noFill/>
        </p:spPr>
        <p:txBody>
          <a:bodyPr wrap="square" lIns="0" tIns="0" rIns="0" bIns="0" anchor="t">
            <a:spAutoFit/>
          </a:bodyPr>
          <a:lstStyle/>
          <a:p>
            <a:pPr algn="l">
              <a:lnSpc>
                <a:spcPts val="2160"/>
              </a:lnSpc>
            </a:pPr>
            <a:r>
              <a:rPr sz="1800" b="0" i="0" u="none">
                <a:solidFill>
                  <a:srgbClr val="111827"/>
                </a:solidFill>
                <a:latin typeface="Inter SemiBold"/>
              </a:rPr>
              <a:t>Categorical Label Encoding</a:t>
            </a:r>
          </a:p>
        </p:txBody>
      </p:sp>
      <p:sp>
        <p:nvSpPr>
          <p:cNvPr id="12" name="TextBox 11"/>
          <p:cNvSpPr txBox="1"/>
          <p:nvPr/>
        </p:nvSpPr>
        <p:spPr>
          <a:xfrm>
            <a:off x="914400" y="3804046"/>
            <a:ext cx="4572000" cy="1645741"/>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Text-based categorical variables (e.g., Gender, Contract Type, Payment Method) cannot be processed mathematically. The LabelEncoder transforms these strings into standardized integer representations (0, 1, 2). The target variable 'Churn' is mapped explicitly to binary format (Yes = 1, No = 0).</a:t>
            </a:r>
          </a:p>
        </p:txBody>
      </p:sp>
      <p:sp>
        <p:nvSpPr>
          <p:cNvPr id="13" name="TextBox 12"/>
          <p:cNvSpPr txBox="1"/>
          <p:nvPr/>
        </p:nvSpPr>
        <p:spPr>
          <a:xfrm>
            <a:off x="6705600" y="3141166"/>
            <a:ext cx="4800600" cy="159990"/>
          </a:xfrm>
          <a:prstGeom prst="rect">
            <a:avLst/>
          </a:prstGeom>
          <a:noFill/>
        </p:spPr>
        <p:txBody>
          <a:bodyPr wrap="square" lIns="0" tIns="0" rIns="0" bIns="0" anchor="t">
            <a:spAutoFit/>
          </a:bodyPr>
          <a:lstStyle/>
          <a:p>
            <a:pPr algn="l">
              <a:lnSpc>
                <a:spcPts val="1260"/>
              </a:lnSpc>
            </a:pPr>
            <a:r>
              <a:rPr sz="1050" b="0" i="0" u="none">
                <a:solidFill>
                  <a:srgbClr val="4B5563"/>
                </a:solidFill>
                <a:latin typeface="Inter SemiBold"/>
              </a:rPr>
              <a:t>TRANSFORMATION 2</a:t>
            </a:r>
          </a:p>
        </p:txBody>
      </p:sp>
      <p:sp>
        <p:nvSpPr>
          <p:cNvPr id="14" name="TextBox 13"/>
          <p:cNvSpPr txBox="1"/>
          <p:nvPr/>
        </p:nvSpPr>
        <p:spPr>
          <a:xfrm>
            <a:off x="6705600" y="3377356"/>
            <a:ext cx="4800600" cy="274290"/>
          </a:xfrm>
          <a:prstGeom prst="rect">
            <a:avLst/>
          </a:prstGeom>
          <a:noFill/>
        </p:spPr>
        <p:txBody>
          <a:bodyPr wrap="square" lIns="0" tIns="0" rIns="0" bIns="0" anchor="t">
            <a:spAutoFit/>
          </a:bodyPr>
          <a:lstStyle/>
          <a:p>
            <a:pPr algn="l">
              <a:lnSpc>
                <a:spcPts val="2160"/>
              </a:lnSpc>
            </a:pPr>
            <a:r>
              <a:rPr sz="1800" b="0" i="0" u="none">
                <a:solidFill>
                  <a:srgbClr val="111827"/>
                </a:solidFill>
                <a:latin typeface="Inter SemiBold"/>
              </a:rPr>
              <a:t>Standard Feature Scaling</a:t>
            </a:r>
          </a:p>
        </p:txBody>
      </p:sp>
      <p:sp>
        <p:nvSpPr>
          <p:cNvPr id="15" name="TextBox 14"/>
          <p:cNvSpPr txBox="1"/>
          <p:nvPr/>
        </p:nvSpPr>
        <p:spPr>
          <a:xfrm>
            <a:off x="6705600" y="3804046"/>
            <a:ext cx="4572000" cy="1371451"/>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Continuous variables like Total Charges can overshadow metrics with smaller scales like Tenure. The StandardScaler normalizes continuous attributes to a mean of 0 and a standard deviation of 1, ensuring the algorithm weights all features equitably.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400800" y="2506116"/>
            <a:ext cx="5181600" cy="3205757"/>
          </a:xfrm>
          <a:prstGeom prst="rect">
            <a:avLst/>
          </a:prstGeom>
        </p:spPr>
      </p:pic>
      <p:pic>
        <p:nvPicPr>
          <p:cNvPr id="4" name="Picture 3" descr="image.png"/>
          <p:cNvPicPr>
            <a:picLocks noChangeAspect="1"/>
          </p:cNvPicPr>
          <p:nvPr/>
        </p:nvPicPr>
        <p:blipFill>
          <a:blip r:embed="rId4"/>
          <a:stretch>
            <a:fillRect/>
          </a:stretch>
        </p:blipFill>
        <p:spPr>
          <a:xfrm>
            <a:off x="6705600" y="3296691"/>
            <a:ext cx="4572000" cy="978991"/>
          </a:xfrm>
          <a:prstGeom prst="rect">
            <a:avLst/>
          </a:prstGeom>
        </p:spPr>
      </p:pic>
      <p:pic>
        <p:nvPicPr>
          <p:cNvPr id="5" name="Picture 4" descr="image.png"/>
          <p:cNvPicPr>
            <a:picLocks noChangeAspect="1"/>
          </p:cNvPicPr>
          <p:nvPr/>
        </p:nvPicPr>
        <p:blipFill>
          <a:blip r:embed="rId5"/>
          <a:stretch>
            <a:fillRect/>
          </a:stretch>
        </p:blipFill>
        <p:spPr>
          <a:xfrm>
            <a:off x="6705600" y="4428083"/>
            <a:ext cx="4572000" cy="978991"/>
          </a:xfrm>
          <a:prstGeom prst="rect">
            <a:avLst/>
          </a:prstGeom>
        </p:spPr>
      </p:pic>
      <p:sp>
        <p:nvSpPr>
          <p:cNvPr id="6" name="TextBox 5"/>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A Random Forest Classifier with 100 decision trees powers the </a:t>
            </a:r>
            <a:r>
              <a:rPr sz="2400" b="0" i="0" u="none">
                <a:solidFill>
                  <a:srgbClr val="991B1B"/>
                </a:solidFill>
                <a:latin typeface="Inter SemiBold"/>
              </a:rPr>
              <a:t>prediction engine.</a:t>
            </a:r>
          </a:p>
        </p:txBody>
      </p:sp>
      <p:sp>
        <p:nvSpPr>
          <p:cNvPr id="7" name="Rectangle 6"/>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6410325"/>
            <a:ext cx="1571625" cy="142875"/>
          </a:xfrm>
          <a:prstGeom prst="rect">
            <a:avLst/>
          </a:prstGeom>
          <a:noFill/>
        </p:spPr>
        <p:txBody>
          <a:bodyPr wrap="square" lIns="0" tIns="0" rIns="0" bIns="0" anchor="t">
            <a:spAutoFit/>
          </a:bodyPr>
          <a:lstStyle/>
          <a:p>
            <a:pPr algn="l"/>
            <a:r>
              <a:rPr sz="900" b="0" i="0" u="none">
                <a:solidFill>
                  <a:srgbClr val="9CA3AF"/>
                </a:solidFill>
                <a:latin typeface="Inter Medium"/>
              </a:rPr>
              <a:t>MODEL IMPLEMENTATION</a:t>
            </a:r>
          </a:p>
        </p:txBody>
      </p:sp>
      <p:sp>
        <p:nvSpPr>
          <p:cNvPr id="9" name="TextBox 8"/>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10" name="TextBox 9"/>
          <p:cNvSpPr txBox="1"/>
          <p:nvPr/>
        </p:nvSpPr>
        <p:spPr>
          <a:xfrm>
            <a:off x="6705600" y="2839491"/>
            <a:ext cx="4800600"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Implementation Assets</a:t>
            </a:r>
          </a:p>
        </p:txBody>
      </p:sp>
      <p:sp>
        <p:nvSpPr>
          <p:cNvPr id="11" name="TextBox 10"/>
          <p:cNvSpPr txBox="1"/>
          <p:nvPr/>
        </p:nvSpPr>
        <p:spPr>
          <a:xfrm>
            <a:off x="838200" y="2082254"/>
            <a:ext cx="4953000" cy="109716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Ensemble Architecture:</a:t>
            </a:r>
            <a:r>
              <a:rPr sz="1350" b="0" i="0" u="none">
                <a:solidFill>
                  <a:srgbClr val="374151"/>
                </a:solidFill>
                <a:latin typeface="Inter"/>
              </a:rPr>
              <a:t> The engine utilizes a Random Forest Classifier configured with 100 parallel decision trees. This ensemble approach resists the overfitting common in single decision trees.</a:t>
            </a:r>
          </a:p>
        </p:txBody>
      </p:sp>
      <p:sp>
        <p:nvSpPr>
          <p:cNvPr id="12" name="TextBox 11"/>
          <p:cNvSpPr txBox="1"/>
          <p:nvPr/>
        </p:nvSpPr>
        <p:spPr>
          <a:xfrm>
            <a:off x="838200" y="3484215"/>
            <a:ext cx="4953000" cy="109716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Decision Splitting (Gini Impurity):</a:t>
            </a:r>
            <a:r>
              <a:rPr sz="1350" b="0" i="0" u="none">
                <a:solidFill>
                  <a:srgbClr val="374151"/>
                </a:solidFill>
                <a:latin typeface="Inter"/>
              </a:rPr>
              <a:t> During training, each tree evaluates a random subset of features and rows to construct optimal split rules, progressively reducing data impurity to separate churners from non-churners.</a:t>
            </a:r>
          </a:p>
        </p:txBody>
      </p:sp>
      <p:sp>
        <p:nvSpPr>
          <p:cNvPr id="13" name="TextBox 12"/>
          <p:cNvSpPr txBox="1"/>
          <p:nvPr/>
        </p:nvSpPr>
        <p:spPr>
          <a:xfrm>
            <a:off x="838200" y="4886176"/>
            <a:ext cx="4953000" cy="109716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Majority Voting:</a:t>
            </a:r>
            <a:r>
              <a:rPr sz="1350" b="0" i="0" u="none">
                <a:solidFill>
                  <a:srgbClr val="374151"/>
                </a:solidFill>
                <a:latin typeface="Inter"/>
              </a:rPr>
              <a:t> In the production environment, the input data passes through all 100 trees. The final output probability represents the aggregated majority vote of the entire forest.</a:t>
            </a:r>
          </a:p>
        </p:txBody>
      </p:sp>
      <p:sp>
        <p:nvSpPr>
          <p:cNvPr id="14" name="TextBox 13"/>
          <p:cNvSpPr txBox="1"/>
          <p:nvPr/>
        </p:nvSpPr>
        <p:spPr>
          <a:xfrm>
            <a:off x="609600" y="2082254"/>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5" name="TextBox 14"/>
          <p:cNvSpPr txBox="1"/>
          <p:nvPr/>
        </p:nvSpPr>
        <p:spPr>
          <a:xfrm>
            <a:off x="609600" y="3484215"/>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6" name="TextBox 15"/>
          <p:cNvSpPr txBox="1"/>
          <p:nvPr/>
        </p:nvSpPr>
        <p:spPr>
          <a:xfrm>
            <a:off x="609600" y="4886176"/>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7" name="TextBox 16"/>
          <p:cNvSpPr txBox="1"/>
          <p:nvPr/>
        </p:nvSpPr>
        <p:spPr>
          <a:xfrm>
            <a:off x="6867525" y="3487191"/>
            <a:ext cx="640258" cy="152400"/>
          </a:xfrm>
          <a:prstGeom prst="rect">
            <a:avLst/>
          </a:prstGeom>
          <a:noFill/>
        </p:spPr>
        <p:txBody>
          <a:bodyPr wrap="square" lIns="0" tIns="0" rIns="0" bIns="0" anchor="t">
            <a:spAutoFit/>
          </a:bodyPr>
          <a:lstStyle/>
          <a:p>
            <a:pPr algn="l"/>
            <a:r>
              <a:rPr sz="1050" b="0" i="0" u="none">
                <a:solidFill>
                  <a:srgbClr val="4B5563"/>
                </a:solidFill>
                <a:latin typeface="monospace"/>
              </a:rPr>
              <a:t>train.py</a:t>
            </a:r>
          </a:p>
        </p:txBody>
      </p:sp>
      <p:sp>
        <p:nvSpPr>
          <p:cNvPr id="18" name="TextBox 17"/>
          <p:cNvSpPr txBox="1"/>
          <p:nvPr/>
        </p:nvSpPr>
        <p:spPr>
          <a:xfrm>
            <a:off x="6867525" y="3687216"/>
            <a:ext cx="4248150" cy="426541"/>
          </a:xfrm>
          <a:prstGeom prst="rect">
            <a:avLst/>
          </a:prstGeom>
          <a:noFill/>
        </p:spPr>
        <p:txBody>
          <a:bodyPr wrap="square" lIns="0" tIns="0" rIns="0" bIns="0" anchor="t">
            <a:spAutoFit/>
          </a:bodyPr>
          <a:lstStyle/>
          <a:p>
            <a:pPr algn="l">
              <a:lnSpc>
                <a:spcPts val="1679"/>
              </a:lnSpc>
            </a:pPr>
            <a:r>
              <a:rPr sz="1050" b="0" i="0" u="none">
                <a:solidFill>
                  <a:srgbClr val="374151"/>
                </a:solidFill>
                <a:latin typeface="Inter"/>
              </a:rPr>
              <a:t>Executes preprocessing and fits the algorithm to the 1,000 synthetic records.</a:t>
            </a:r>
          </a:p>
        </p:txBody>
      </p:sp>
      <p:sp>
        <p:nvSpPr>
          <p:cNvPr id="19" name="TextBox 18"/>
          <p:cNvSpPr txBox="1"/>
          <p:nvPr/>
        </p:nvSpPr>
        <p:spPr>
          <a:xfrm>
            <a:off x="6867525" y="4618583"/>
            <a:ext cx="1760636" cy="152400"/>
          </a:xfrm>
          <a:prstGeom prst="rect">
            <a:avLst/>
          </a:prstGeom>
          <a:noFill/>
        </p:spPr>
        <p:txBody>
          <a:bodyPr wrap="square" lIns="0" tIns="0" rIns="0" bIns="0" anchor="t">
            <a:spAutoFit/>
          </a:bodyPr>
          <a:lstStyle/>
          <a:p>
            <a:pPr algn="l"/>
            <a:r>
              <a:rPr sz="1050" b="0" i="0" u="none">
                <a:solidFill>
                  <a:srgbClr val="4B5563"/>
                </a:solidFill>
                <a:latin typeface="monospace"/>
              </a:rPr>
              <a:t>model.pkl &amp; scaler.pkl</a:t>
            </a:r>
          </a:p>
        </p:txBody>
      </p:sp>
      <p:sp>
        <p:nvSpPr>
          <p:cNvPr id="20" name="TextBox 19"/>
          <p:cNvSpPr txBox="1"/>
          <p:nvPr/>
        </p:nvSpPr>
        <p:spPr>
          <a:xfrm>
            <a:off x="6867525" y="4818608"/>
            <a:ext cx="4248150" cy="426541"/>
          </a:xfrm>
          <a:prstGeom prst="rect">
            <a:avLst/>
          </a:prstGeom>
          <a:noFill/>
        </p:spPr>
        <p:txBody>
          <a:bodyPr wrap="square" lIns="0" tIns="0" rIns="0" bIns="0" anchor="t">
            <a:spAutoFit/>
          </a:bodyPr>
          <a:lstStyle/>
          <a:p>
            <a:pPr algn="l">
              <a:lnSpc>
                <a:spcPts val="1679"/>
              </a:lnSpc>
            </a:pPr>
            <a:r>
              <a:rPr sz="1050" b="0" i="0" u="none">
                <a:solidFill>
                  <a:srgbClr val="374151"/>
                </a:solidFill>
                <a:latin typeface="Inter"/>
              </a:rPr>
              <a:t>Joblib serialization artifacts that freeze the trained weights and scaling parameters.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p:cNvPicPr>
            <a:picLocks noChangeAspect="1"/>
          </p:cNvPicPr>
          <p:nvPr/>
        </p:nvPicPr>
        <p:blipFill>
          <a:blip r:embed="rId3"/>
          <a:stretch>
            <a:fillRect/>
          </a:stretch>
        </p:blipFill>
        <p:spPr>
          <a:xfrm>
            <a:off x="6286500" y="1931941"/>
            <a:ext cx="5295900" cy="3104250"/>
          </a:xfrm>
          <a:prstGeom prst="rect">
            <a:avLst/>
          </a:prstGeom>
        </p:spPr>
      </p:pic>
      <p:sp>
        <p:nvSpPr>
          <p:cNvPr id="4" name="TextBox 3"/>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The Streamlit dashboard enables real-time probability scoring and </a:t>
            </a:r>
            <a:r>
              <a:rPr sz="2400" b="0" i="0" u="none">
                <a:solidFill>
                  <a:srgbClr val="991B1B"/>
                </a:solidFill>
                <a:latin typeface="Inter SemiBold"/>
              </a:rPr>
              <a:t>decision support.</a:t>
            </a:r>
          </a:p>
        </p:txBody>
      </p:sp>
      <p:sp>
        <p:nvSpPr>
          <p:cNvPr id="5" name="Rectangle 4"/>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6410325"/>
            <a:ext cx="2025104" cy="142875"/>
          </a:xfrm>
          <a:prstGeom prst="rect">
            <a:avLst/>
          </a:prstGeom>
          <a:noFill/>
        </p:spPr>
        <p:txBody>
          <a:bodyPr wrap="square" lIns="0" tIns="0" rIns="0" bIns="0" anchor="t">
            <a:spAutoFit/>
          </a:bodyPr>
          <a:lstStyle/>
          <a:p>
            <a:pPr algn="l"/>
            <a:r>
              <a:rPr sz="900" b="0" i="0" u="none">
                <a:solidFill>
                  <a:srgbClr val="9CA3AF"/>
                </a:solidFill>
                <a:latin typeface="Inter Medium"/>
              </a:rPr>
              <a:t>WEB APPLICATION DEPLOYMENT</a:t>
            </a:r>
          </a:p>
        </p:txBody>
      </p:sp>
      <p:sp>
        <p:nvSpPr>
          <p:cNvPr id="7" name="TextBox 6"/>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8" name="TextBox 7"/>
          <p:cNvSpPr txBox="1"/>
          <p:nvPr/>
        </p:nvSpPr>
        <p:spPr>
          <a:xfrm>
            <a:off x="609600" y="1817191"/>
            <a:ext cx="5295900" cy="82287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The app.py deployment script utilizes the Streamlit framework to translate backend machine learning logic into an accessible, interactive front-end for business stakeholders.</a:t>
            </a:r>
          </a:p>
        </p:txBody>
      </p:sp>
      <p:sp>
        <p:nvSpPr>
          <p:cNvPr id="9" name="TextBox 8"/>
          <p:cNvSpPr txBox="1"/>
          <p:nvPr/>
        </p:nvSpPr>
        <p:spPr>
          <a:xfrm>
            <a:off x="838200" y="2868662"/>
            <a:ext cx="5067300" cy="54858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Offline Inference:</a:t>
            </a:r>
            <a:r>
              <a:rPr sz="1350" b="0" i="0" u="none">
                <a:solidFill>
                  <a:srgbClr val="374151"/>
                </a:solidFill>
                <a:latin typeface="Inter"/>
              </a:rPr>
              <a:t> Instantaneously loads the serialized model.pkl and scaler.pkl files upon launch.</a:t>
            </a:r>
          </a:p>
        </p:txBody>
      </p:sp>
      <p:sp>
        <p:nvSpPr>
          <p:cNvPr id="10" name="TextBox 9"/>
          <p:cNvSpPr txBox="1"/>
          <p:nvPr/>
        </p:nvSpPr>
        <p:spPr>
          <a:xfrm>
            <a:off x="838200" y="3569642"/>
            <a:ext cx="5067300" cy="82287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Interactive Controls:</a:t>
            </a:r>
            <a:r>
              <a:rPr sz="1350" b="0" i="0" u="none">
                <a:solidFill>
                  <a:srgbClr val="374151"/>
                </a:solidFill>
                <a:latin typeface="Inter"/>
              </a:rPr>
              <a:t> Provides intuitive sliders and dropdowns for non-technical users to input customer metrics.</a:t>
            </a:r>
          </a:p>
        </p:txBody>
      </p:sp>
      <p:sp>
        <p:nvSpPr>
          <p:cNvPr id="11" name="TextBox 10"/>
          <p:cNvSpPr txBox="1"/>
          <p:nvPr/>
        </p:nvSpPr>
        <p:spPr>
          <a:xfrm>
            <a:off x="838200" y="4544913"/>
            <a:ext cx="5067300" cy="822870"/>
          </a:xfrm>
          <a:prstGeom prst="rect">
            <a:avLst/>
          </a:prstGeom>
          <a:noFill/>
        </p:spPr>
        <p:txBody>
          <a:bodyPr wrap="square" lIns="0" tIns="0" rIns="0" bIns="0" anchor="t">
            <a:spAutoFit/>
          </a:bodyPr>
          <a:lstStyle/>
          <a:p>
            <a:pPr algn="l">
              <a:lnSpc>
                <a:spcPts val="2160"/>
              </a:lnSpc>
            </a:pPr>
            <a:r>
              <a:rPr sz="1350" b="1" i="0" u="none">
                <a:solidFill>
                  <a:srgbClr val="374151"/>
                </a:solidFill>
                <a:latin typeface="Inter"/>
              </a:rPr>
              <a:t>Low Latency Scoring:</a:t>
            </a:r>
            <a:r>
              <a:rPr sz="1350" b="0" i="0" u="none">
                <a:solidFill>
                  <a:srgbClr val="374151"/>
                </a:solidFill>
                <a:latin typeface="Inter"/>
              </a:rPr>
              <a:t> Applies the exact training transformations to live input, computing prediction probabilities in under 50 milliseconds.</a:t>
            </a:r>
          </a:p>
        </p:txBody>
      </p:sp>
      <p:sp>
        <p:nvSpPr>
          <p:cNvPr id="12" name="TextBox 11"/>
          <p:cNvSpPr txBox="1"/>
          <p:nvPr/>
        </p:nvSpPr>
        <p:spPr>
          <a:xfrm>
            <a:off x="609600" y="2868662"/>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3" name="TextBox 12"/>
          <p:cNvSpPr txBox="1"/>
          <p:nvPr/>
        </p:nvSpPr>
        <p:spPr>
          <a:xfrm>
            <a:off x="609600" y="3569642"/>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
        <p:nvSpPr>
          <p:cNvPr id="14" name="TextBox 13"/>
          <p:cNvSpPr txBox="1"/>
          <p:nvPr/>
        </p:nvSpPr>
        <p:spPr>
          <a:xfrm>
            <a:off x="609600" y="4544913"/>
            <a:ext cx="171450" cy="276225"/>
          </a:xfrm>
          <a:prstGeom prst="rect">
            <a:avLst/>
          </a:prstGeom>
          <a:noFill/>
        </p:spPr>
        <p:txBody>
          <a:bodyPr wrap="square" lIns="0" tIns="0" rIns="0" bIns="0" anchor="t">
            <a:spAutoFit/>
          </a:bodyPr>
          <a:lstStyle/>
          <a:p>
            <a:pPr algn="l">
              <a:lnSpc>
                <a:spcPts val="2160"/>
              </a:lnSpc>
            </a:pPr>
            <a:r>
              <a:rPr sz="1350" b="1" i="0" u="none">
                <a:solidFill>
                  <a:srgbClr val="991B1B"/>
                </a:solidFill>
                <a:latin typeface="Inter"/>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1817191"/>
            <a:ext cx="10972800" cy="4583608"/>
          </a:xfrm>
          <a:prstGeom prst="rect">
            <a:avLst/>
          </a:prstGeom>
        </p:spPr>
      </p:pic>
      <p:pic>
        <p:nvPicPr>
          <p:cNvPr id="3" name="Picture 2" descr="image.png"/>
          <p:cNvPicPr>
            <a:picLocks noChangeAspect="1"/>
          </p:cNvPicPr>
          <p:nvPr/>
        </p:nvPicPr>
        <p:blipFill>
          <a:blip r:embed="rId3"/>
          <a:stretch>
            <a:fillRect/>
          </a:stretch>
        </p:blipFill>
        <p:spPr>
          <a:xfrm>
            <a:off x="609600" y="6248400"/>
            <a:ext cx="10972800" cy="304800"/>
          </a:xfrm>
          <a:prstGeom prst="rect">
            <a:avLst/>
          </a:prstGeom>
        </p:spPr>
      </p:pic>
      <p:sp>
        <p:nvSpPr>
          <p:cNvPr id="4" name="TextBox 3"/>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Month-to-month contracts and short tenure are the strongest indicators of </a:t>
            </a:r>
            <a:r>
              <a:rPr sz="2400" b="0" i="0" u="none">
                <a:solidFill>
                  <a:srgbClr val="991B1B"/>
                </a:solidFill>
                <a:latin typeface="Inter SemiBold"/>
              </a:rPr>
              <a:t>churn.</a:t>
            </a:r>
          </a:p>
        </p:txBody>
      </p:sp>
      <p:sp>
        <p:nvSpPr>
          <p:cNvPr id="5" name="Rectangle 4"/>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1817191"/>
            <a:ext cx="10972800" cy="548580"/>
          </a:xfrm>
          <a:prstGeom prst="rect">
            <a:avLst/>
          </a:prstGeom>
          <a:noFill/>
        </p:spPr>
        <p:txBody>
          <a:bodyPr wrap="square" lIns="0" tIns="0" rIns="0" bIns="0" anchor="t">
            <a:spAutoFit/>
          </a:bodyPr>
          <a:lstStyle/>
          <a:p>
            <a:pPr algn="l">
              <a:lnSpc>
                <a:spcPts val="2160"/>
              </a:lnSpc>
            </a:pPr>
            <a:r>
              <a:rPr sz="1350" b="0" i="0" u="none">
                <a:solidFill>
                  <a:srgbClr val="374151"/>
                </a:solidFill>
                <a:latin typeface="Inter"/>
              </a:rPr>
              <a:t>Random Forest feature importance analysis reveals the weighted influence of each input variable on the final churn prediction outcome.</a:t>
            </a:r>
          </a:p>
        </p:txBody>
      </p:sp>
      <p:sp>
        <p:nvSpPr>
          <p:cNvPr id="7" name="TextBox 6"/>
          <p:cNvSpPr txBox="1"/>
          <p:nvPr/>
        </p:nvSpPr>
        <p:spPr>
          <a:xfrm>
            <a:off x="609600" y="6410325"/>
            <a:ext cx="2040284" cy="142875"/>
          </a:xfrm>
          <a:prstGeom prst="rect">
            <a:avLst/>
          </a:prstGeom>
          <a:noFill/>
        </p:spPr>
        <p:txBody>
          <a:bodyPr wrap="square" lIns="0" tIns="0" rIns="0" bIns="0" anchor="t">
            <a:spAutoFit/>
          </a:bodyPr>
          <a:lstStyle/>
          <a:p>
            <a:pPr algn="l"/>
            <a:r>
              <a:rPr sz="900" b="0" i="0" u="none">
                <a:solidFill>
                  <a:srgbClr val="9CA3AF"/>
                </a:solidFill>
                <a:latin typeface="Inter Medium"/>
              </a:rPr>
              <a:t>RESULTS: FEATURE IMPORTANCE</a:t>
            </a:r>
          </a:p>
        </p:txBody>
      </p:sp>
      <p:sp>
        <p:nvSpPr>
          <p:cNvPr id="8" name="TextBox 7"/>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6248400"/>
            <a:ext cx="10972800" cy="304800"/>
          </a:xfrm>
          <a:prstGeom prst="rect">
            <a:avLst/>
          </a:prstGeom>
        </p:spPr>
      </p:pic>
      <p:pic>
        <p:nvPicPr>
          <p:cNvPr id="3" name="Picture 2" descr="image.png"/>
          <p:cNvPicPr>
            <a:picLocks noChangeAspect="1"/>
          </p:cNvPicPr>
          <p:nvPr/>
        </p:nvPicPr>
        <p:blipFill>
          <a:blip r:embed="rId3"/>
          <a:stretch>
            <a:fillRect/>
          </a:stretch>
        </p:blipFill>
        <p:spPr>
          <a:xfrm>
            <a:off x="609600" y="2007691"/>
            <a:ext cx="3454300" cy="2215157"/>
          </a:xfrm>
          <a:prstGeom prst="rect">
            <a:avLst/>
          </a:prstGeom>
        </p:spPr>
      </p:pic>
      <p:pic>
        <p:nvPicPr>
          <p:cNvPr id="4" name="Picture 3" descr="image.png"/>
          <p:cNvPicPr>
            <a:picLocks noChangeAspect="1"/>
          </p:cNvPicPr>
          <p:nvPr/>
        </p:nvPicPr>
        <p:blipFill>
          <a:blip r:embed="rId4"/>
          <a:stretch>
            <a:fillRect/>
          </a:stretch>
        </p:blipFill>
        <p:spPr>
          <a:xfrm>
            <a:off x="4368700" y="2007691"/>
            <a:ext cx="3454449" cy="2215157"/>
          </a:xfrm>
          <a:prstGeom prst="rect">
            <a:avLst/>
          </a:prstGeom>
        </p:spPr>
      </p:pic>
      <p:pic>
        <p:nvPicPr>
          <p:cNvPr id="5" name="Picture 4" descr="image.png"/>
          <p:cNvPicPr>
            <a:picLocks noChangeAspect="1"/>
          </p:cNvPicPr>
          <p:nvPr/>
        </p:nvPicPr>
        <p:blipFill>
          <a:blip r:embed="rId5"/>
          <a:stretch>
            <a:fillRect/>
          </a:stretch>
        </p:blipFill>
        <p:spPr>
          <a:xfrm>
            <a:off x="8127950" y="2007691"/>
            <a:ext cx="3454300" cy="2215157"/>
          </a:xfrm>
          <a:prstGeom prst="rect">
            <a:avLst/>
          </a:prstGeom>
        </p:spPr>
      </p:pic>
      <p:sp>
        <p:nvSpPr>
          <p:cNvPr id="6" name="TextBox 5"/>
          <p:cNvSpPr txBox="1"/>
          <p:nvPr/>
        </p:nvSpPr>
        <p:spPr>
          <a:xfrm>
            <a:off x="609600" y="457200"/>
            <a:ext cx="11521440" cy="750391"/>
          </a:xfrm>
          <a:prstGeom prst="rect">
            <a:avLst/>
          </a:prstGeom>
          <a:noFill/>
        </p:spPr>
        <p:txBody>
          <a:bodyPr wrap="square" lIns="0" tIns="0" rIns="0" bIns="0" anchor="t">
            <a:spAutoFit/>
          </a:bodyPr>
          <a:lstStyle/>
          <a:p>
            <a:pPr algn="l">
              <a:lnSpc>
                <a:spcPts val="2879"/>
              </a:lnSpc>
            </a:pPr>
            <a:r>
              <a:rPr sz="2400" b="0" i="0" u="none">
                <a:solidFill>
                  <a:srgbClr val="111827"/>
                </a:solidFill>
                <a:latin typeface="Inter SemiBold"/>
              </a:rPr>
              <a:t>Strategic interventions should focus on </a:t>
            </a:r>
            <a:r>
              <a:rPr sz="2400" b="0" i="0" u="none">
                <a:solidFill>
                  <a:srgbClr val="991B1B"/>
                </a:solidFill>
                <a:latin typeface="Inter SemiBold"/>
              </a:rPr>
              <a:t>contract conversion</a:t>
            </a:r>
            <a:r>
              <a:rPr sz="2400" b="0" i="0" u="none">
                <a:solidFill>
                  <a:srgbClr val="111827"/>
                </a:solidFill>
                <a:latin typeface="Inter SemiBold"/>
              </a:rPr>
              <a:t> and early onboarding.</a:t>
            </a:r>
          </a:p>
        </p:txBody>
      </p:sp>
      <p:sp>
        <p:nvSpPr>
          <p:cNvPr id="7" name="Rectangle 6"/>
          <p:cNvSpPr/>
          <p:nvPr/>
        </p:nvSpPr>
        <p:spPr>
          <a:xfrm>
            <a:off x="609600" y="1340941"/>
            <a:ext cx="10972800" cy="1905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6410325"/>
            <a:ext cx="2009775" cy="142875"/>
          </a:xfrm>
          <a:prstGeom prst="rect">
            <a:avLst/>
          </a:prstGeom>
          <a:noFill/>
        </p:spPr>
        <p:txBody>
          <a:bodyPr wrap="square" lIns="0" tIns="0" rIns="0" bIns="0" anchor="t">
            <a:spAutoFit/>
          </a:bodyPr>
          <a:lstStyle/>
          <a:p>
            <a:pPr algn="l"/>
            <a:r>
              <a:rPr sz="900" b="0" i="0" u="none">
                <a:solidFill>
                  <a:srgbClr val="9CA3AF"/>
                </a:solidFill>
                <a:latin typeface="Inter Medium"/>
              </a:rPr>
              <a:t>STRATEGIC RECOMMENDATIONS</a:t>
            </a:r>
          </a:p>
        </p:txBody>
      </p:sp>
      <p:sp>
        <p:nvSpPr>
          <p:cNvPr id="9" name="TextBox 8"/>
          <p:cNvSpPr txBox="1"/>
          <p:nvPr/>
        </p:nvSpPr>
        <p:spPr>
          <a:xfrm>
            <a:off x="9065865" y="6410325"/>
            <a:ext cx="2516534" cy="142875"/>
          </a:xfrm>
          <a:prstGeom prst="rect">
            <a:avLst/>
          </a:prstGeom>
          <a:noFill/>
        </p:spPr>
        <p:txBody>
          <a:bodyPr wrap="square" lIns="0" tIns="0" rIns="0" bIns="0" anchor="t">
            <a:spAutoFit/>
          </a:bodyPr>
          <a:lstStyle/>
          <a:p>
            <a:pPr algn="l"/>
            <a:r>
              <a:rPr sz="900" b="0" i="0" u="none">
                <a:solidFill>
                  <a:srgbClr val="9CA3AF"/>
                </a:solidFill>
                <a:latin typeface="Inter Medium"/>
              </a:rPr>
              <a:t>CUSTOMER CHURN PREDICTION SYSTEM</a:t>
            </a:r>
          </a:p>
        </p:txBody>
      </p:sp>
      <p:sp>
        <p:nvSpPr>
          <p:cNvPr id="10" name="TextBox 9"/>
          <p:cNvSpPr txBox="1"/>
          <p:nvPr/>
        </p:nvSpPr>
        <p:spPr>
          <a:xfrm>
            <a:off x="609600" y="2264866"/>
            <a:ext cx="3627015"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1. Incentivize Contracts</a:t>
            </a:r>
          </a:p>
        </p:txBody>
      </p:sp>
      <p:sp>
        <p:nvSpPr>
          <p:cNvPr id="11" name="TextBox 10"/>
          <p:cNvSpPr txBox="1"/>
          <p:nvPr/>
        </p:nvSpPr>
        <p:spPr>
          <a:xfrm>
            <a:off x="609600" y="2645866"/>
            <a:ext cx="3454300" cy="731341"/>
          </a:xfrm>
          <a:prstGeom prst="rect">
            <a:avLst/>
          </a:prstGeom>
          <a:noFill/>
        </p:spPr>
        <p:txBody>
          <a:bodyPr wrap="square" lIns="0" tIns="0" rIns="0" bIns="0" anchor="t">
            <a:spAutoFit/>
          </a:bodyPr>
          <a:lstStyle/>
          <a:p>
            <a:pPr algn="l">
              <a:lnSpc>
                <a:spcPts val="1920"/>
              </a:lnSpc>
            </a:pPr>
            <a:r>
              <a:rPr sz="1200" b="1" i="0" u="none">
                <a:solidFill>
                  <a:srgbClr val="4B5563"/>
                </a:solidFill>
                <a:latin typeface="Inter"/>
              </a:rPr>
              <a:t>Finding:</a:t>
            </a:r>
            <a:r>
              <a:rPr sz="1200" b="0" i="0" u="none">
                <a:solidFill>
                  <a:srgbClr val="4B5563"/>
                </a:solidFill>
                <a:latin typeface="Inter"/>
              </a:rPr>
              <a:t> Month-to-month contracts have the highest churn rate due to minimal switching friction.</a:t>
            </a:r>
          </a:p>
        </p:txBody>
      </p:sp>
      <p:sp>
        <p:nvSpPr>
          <p:cNvPr id="12" name="TextBox 11"/>
          <p:cNvSpPr txBox="1"/>
          <p:nvPr/>
        </p:nvSpPr>
        <p:spPr>
          <a:xfrm>
            <a:off x="609600" y="3491507"/>
            <a:ext cx="3454300" cy="731341"/>
          </a:xfrm>
          <a:prstGeom prst="rect">
            <a:avLst/>
          </a:prstGeom>
          <a:noFill/>
        </p:spPr>
        <p:txBody>
          <a:bodyPr wrap="square" lIns="0" tIns="0" rIns="0" bIns="0" anchor="t">
            <a:spAutoFit/>
          </a:bodyPr>
          <a:lstStyle/>
          <a:p>
            <a:pPr algn="l">
              <a:lnSpc>
                <a:spcPts val="1920"/>
              </a:lnSpc>
            </a:pPr>
            <a:r>
              <a:rPr sz="1200" b="1" i="0" u="none">
                <a:solidFill>
                  <a:srgbClr val="374151"/>
                </a:solidFill>
                <a:latin typeface="Inter"/>
              </a:rPr>
              <a:t>Action:</a:t>
            </a:r>
            <a:r>
              <a:rPr sz="1200" b="0" i="0" u="none">
                <a:solidFill>
                  <a:srgbClr val="374151"/>
                </a:solidFill>
                <a:latin typeface="Inter"/>
              </a:rPr>
              <a:t> Offer targeted financial discounts to proactively convert high-risk month-to-month accounts into one- or two-year commitments.</a:t>
            </a:r>
          </a:p>
        </p:txBody>
      </p:sp>
      <p:sp>
        <p:nvSpPr>
          <p:cNvPr id="13" name="TextBox 12"/>
          <p:cNvSpPr txBox="1"/>
          <p:nvPr/>
        </p:nvSpPr>
        <p:spPr>
          <a:xfrm>
            <a:off x="4368700" y="2264866"/>
            <a:ext cx="3627172"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2. Early Onboarding</a:t>
            </a:r>
          </a:p>
        </p:txBody>
      </p:sp>
      <p:sp>
        <p:nvSpPr>
          <p:cNvPr id="14" name="TextBox 13"/>
          <p:cNvSpPr txBox="1"/>
          <p:nvPr/>
        </p:nvSpPr>
        <p:spPr>
          <a:xfrm>
            <a:off x="4368700" y="2645866"/>
            <a:ext cx="3454449" cy="731341"/>
          </a:xfrm>
          <a:prstGeom prst="rect">
            <a:avLst/>
          </a:prstGeom>
          <a:noFill/>
        </p:spPr>
        <p:txBody>
          <a:bodyPr wrap="square" lIns="0" tIns="0" rIns="0" bIns="0" anchor="t">
            <a:spAutoFit/>
          </a:bodyPr>
          <a:lstStyle/>
          <a:p>
            <a:pPr algn="l">
              <a:lnSpc>
                <a:spcPts val="1920"/>
              </a:lnSpc>
            </a:pPr>
            <a:r>
              <a:rPr sz="1200" b="1" i="0" u="none">
                <a:solidFill>
                  <a:srgbClr val="4B5563"/>
                </a:solidFill>
                <a:latin typeface="Inter"/>
              </a:rPr>
              <a:t>Finding:</a:t>
            </a:r>
            <a:r>
              <a:rPr sz="1200" b="0" i="0" u="none">
                <a:solidFill>
                  <a:srgbClr val="4B5563"/>
                </a:solidFill>
                <a:latin typeface="Inter"/>
              </a:rPr>
              <a:t> Customers within their first 1-12 months display the highest cancellation susceptibility.</a:t>
            </a:r>
          </a:p>
        </p:txBody>
      </p:sp>
      <p:sp>
        <p:nvSpPr>
          <p:cNvPr id="15" name="TextBox 14"/>
          <p:cNvSpPr txBox="1"/>
          <p:nvPr/>
        </p:nvSpPr>
        <p:spPr>
          <a:xfrm>
            <a:off x="4368700" y="3491507"/>
            <a:ext cx="3454449" cy="731341"/>
          </a:xfrm>
          <a:prstGeom prst="rect">
            <a:avLst/>
          </a:prstGeom>
          <a:noFill/>
        </p:spPr>
        <p:txBody>
          <a:bodyPr wrap="square" lIns="0" tIns="0" rIns="0" bIns="0" anchor="t">
            <a:spAutoFit/>
          </a:bodyPr>
          <a:lstStyle/>
          <a:p>
            <a:pPr algn="l">
              <a:lnSpc>
                <a:spcPts val="1920"/>
              </a:lnSpc>
            </a:pPr>
            <a:r>
              <a:rPr sz="1200" b="1" i="0" u="none">
                <a:solidFill>
                  <a:srgbClr val="374151"/>
                </a:solidFill>
                <a:latin typeface="Inter"/>
              </a:rPr>
              <a:t>Action:</a:t>
            </a:r>
            <a:r>
              <a:rPr sz="1200" b="0" i="0" u="none">
                <a:solidFill>
                  <a:srgbClr val="374151"/>
                </a:solidFill>
                <a:latin typeface="Inter"/>
              </a:rPr>
              <a:t> Deploy customer success check-ins specifically targeting new subscribers within their critical first 90-day retention window.</a:t>
            </a:r>
          </a:p>
        </p:txBody>
      </p:sp>
      <p:sp>
        <p:nvSpPr>
          <p:cNvPr id="16" name="TextBox 15"/>
          <p:cNvSpPr txBox="1"/>
          <p:nvPr/>
        </p:nvSpPr>
        <p:spPr>
          <a:xfrm>
            <a:off x="8127950" y="2264866"/>
            <a:ext cx="3627015" cy="228600"/>
          </a:xfrm>
          <a:prstGeom prst="rect">
            <a:avLst/>
          </a:prstGeom>
          <a:noFill/>
        </p:spPr>
        <p:txBody>
          <a:bodyPr wrap="square" lIns="0" tIns="0" rIns="0" bIns="0" anchor="t">
            <a:spAutoFit/>
          </a:bodyPr>
          <a:lstStyle/>
          <a:p>
            <a:pPr algn="l">
              <a:lnSpc>
                <a:spcPts val="1800"/>
              </a:lnSpc>
            </a:pPr>
            <a:r>
              <a:rPr sz="1500" b="0" i="0" u="none">
                <a:solidFill>
                  <a:srgbClr val="111827"/>
                </a:solidFill>
                <a:latin typeface="Inter SemiBold"/>
              </a:rPr>
              <a:t>3. Dynamic Discounting</a:t>
            </a:r>
          </a:p>
        </p:txBody>
      </p:sp>
      <p:sp>
        <p:nvSpPr>
          <p:cNvPr id="17" name="TextBox 16"/>
          <p:cNvSpPr txBox="1"/>
          <p:nvPr/>
        </p:nvSpPr>
        <p:spPr>
          <a:xfrm>
            <a:off x="8127950" y="2645866"/>
            <a:ext cx="3454300" cy="487560"/>
          </a:xfrm>
          <a:prstGeom prst="rect">
            <a:avLst/>
          </a:prstGeom>
          <a:noFill/>
        </p:spPr>
        <p:txBody>
          <a:bodyPr wrap="square" lIns="0" tIns="0" rIns="0" bIns="0" anchor="t">
            <a:spAutoFit/>
          </a:bodyPr>
          <a:lstStyle/>
          <a:p>
            <a:pPr algn="l">
              <a:lnSpc>
                <a:spcPts val="1920"/>
              </a:lnSpc>
            </a:pPr>
            <a:r>
              <a:rPr sz="1200" b="1" i="0" u="none">
                <a:solidFill>
                  <a:srgbClr val="4B5563"/>
                </a:solidFill>
                <a:latin typeface="Inter"/>
              </a:rPr>
              <a:t>Finding:</a:t>
            </a:r>
            <a:r>
              <a:rPr sz="1200" b="0" i="0" u="none">
                <a:solidFill>
                  <a:srgbClr val="4B5563"/>
                </a:solidFill>
                <a:latin typeface="Inter"/>
              </a:rPr>
              <a:t> High monthly charges accelerate churn probability significantly.</a:t>
            </a:r>
          </a:p>
        </p:txBody>
      </p:sp>
      <p:sp>
        <p:nvSpPr>
          <p:cNvPr id="18" name="TextBox 17"/>
          <p:cNvSpPr txBox="1"/>
          <p:nvPr/>
        </p:nvSpPr>
        <p:spPr>
          <a:xfrm>
            <a:off x="8127950" y="3247727"/>
            <a:ext cx="3454300" cy="975121"/>
          </a:xfrm>
          <a:prstGeom prst="rect">
            <a:avLst/>
          </a:prstGeom>
          <a:noFill/>
        </p:spPr>
        <p:txBody>
          <a:bodyPr wrap="square" lIns="0" tIns="0" rIns="0" bIns="0" anchor="t">
            <a:spAutoFit/>
          </a:bodyPr>
          <a:lstStyle/>
          <a:p>
            <a:pPr algn="l">
              <a:lnSpc>
                <a:spcPts val="1920"/>
              </a:lnSpc>
            </a:pPr>
            <a:r>
              <a:rPr sz="1200" b="1" i="0" u="none">
                <a:solidFill>
                  <a:srgbClr val="374151"/>
                </a:solidFill>
                <a:latin typeface="Inter"/>
              </a:rPr>
              <a:t>Action:</a:t>
            </a:r>
            <a:r>
              <a:rPr sz="1200" b="0" i="0" u="none">
                <a:solidFill>
                  <a:srgbClr val="374151"/>
                </a:solidFill>
                <a:latin typeface="Inter"/>
              </a:rPr>
              <a:t> Program Streamlit predictions via API into existing CRM software to automatically trigger promotional offers when risk exceeds a 65% threshold.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090987" y="4349055"/>
            <a:ext cx="4010025" cy="1253281"/>
          </a:xfrm>
          <a:prstGeom prst="rect">
            <a:avLst/>
          </a:prstGeom>
        </p:spPr>
      </p:pic>
      <p:sp>
        <p:nvSpPr>
          <p:cNvPr id="3" name="TextBox 2"/>
          <p:cNvSpPr txBox="1"/>
          <p:nvPr/>
        </p:nvSpPr>
        <p:spPr>
          <a:xfrm>
            <a:off x="1095375" y="1255514"/>
            <a:ext cx="10001250" cy="1645741"/>
          </a:xfrm>
          <a:prstGeom prst="rect">
            <a:avLst/>
          </a:prstGeom>
          <a:noFill/>
        </p:spPr>
        <p:txBody>
          <a:bodyPr wrap="square" lIns="0" tIns="0" rIns="0" bIns="0" anchor="t">
            <a:spAutoFit/>
          </a:bodyPr>
          <a:lstStyle/>
          <a:p>
            <a:pPr algn="ctr">
              <a:lnSpc>
                <a:spcPts val="4320"/>
              </a:lnSpc>
            </a:pPr>
            <a:r>
              <a:rPr sz="3600" b="0" i="0" u="none">
                <a:solidFill>
                  <a:srgbClr val="111827"/>
                </a:solidFill>
                <a:latin typeface="Inter SemiBold"/>
              </a:rPr>
              <a:t>The ML pipeline successfully translates statistical operations into actionable business tools.</a:t>
            </a:r>
          </a:p>
        </p:txBody>
      </p:sp>
      <p:sp>
        <p:nvSpPr>
          <p:cNvPr id="4" name="TextBox 3"/>
          <p:cNvSpPr txBox="1"/>
          <p:nvPr/>
        </p:nvSpPr>
        <p:spPr>
          <a:xfrm>
            <a:off x="1333500" y="3206055"/>
            <a:ext cx="9525000" cy="685800"/>
          </a:xfrm>
          <a:prstGeom prst="rect">
            <a:avLst/>
          </a:prstGeom>
          <a:noFill/>
        </p:spPr>
        <p:txBody>
          <a:bodyPr wrap="square" lIns="0" tIns="0" rIns="0" bIns="0" anchor="t">
            <a:spAutoFit/>
          </a:bodyPr>
          <a:lstStyle/>
          <a:p>
            <a:pPr algn="ctr">
              <a:lnSpc>
                <a:spcPts val="2700"/>
              </a:lnSpc>
            </a:pPr>
            <a:r>
              <a:rPr sz="1800" b="0" i="0" u="none">
                <a:solidFill>
                  <a:srgbClr val="4B5563"/>
                </a:solidFill>
                <a:latin typeface="Inter Light"/>
              </a:rPr>
              <a:t>By integrating data preprocessing, ensemble Random Forest training, and cloud-ready web interface design, the system empowers proactive retention management.</a:t>
            </a:r>
          </a:p>
        </p:txBody>
      </p:sp>
      <p:sp>
        <p:nvSpPr>
          <p:cNvPr id="5" name="TextBox 4"/>
          <p:cNvSpPr txBox="1"/>
          <p:nvPr/>
        </p:nvSpPr>
        <p:spPr>
          <a:xfrm>
            <a:off x="4557712" y="4587180"/>
            <a:ext cx="3076575" cy="274290"/>
          </a:xfrm>
          <a:prstGeom prst="rect">
            <a:avLst/>
          </a:prstGeom>
          <a:noFill/>
        </p:spPr>
        <p:txBody>
          <a:bodyPr wrap="square" lIns="0" tIns="0" rIns="0" bIns="0" anchor="t">
            <a:spAutoFit/>
          </a:bodyPr>
          <a:lstStyle/>
          <a:p>
            <a:pPr algn="ctr">
              <a:lnSpc>
                <a:spcPts val="2160"/>
              </a:lnSpc>
            </a:pPr>
            <a:r>
              <a:rPr sz="1350" b="0" i="0" u="none">
                <a:solidFill>
                  <a:srgbClr val="111827"/>
                </a:solidFill>
                <a:latin typeface="Inter SemiBold"/>
              </a:rPr>
              <a:t>Darren Fortun Fotsing Tankam</a:t>
            </a:r>
          </a:p>
        </p:txBody>
      </p:sp>
      <p:sp>
        <p:nvSpPr>
          <p:cNvPr id="6" name="TextBox 5"/>
          <p:cNvSpPr txBox="1"/>
          <p:nvPr/>
        </p:nvSpPr>
        <p:spPr>
          <a:xfrm>
            <a:off x="4557712" y="4937670"/>
            <a:ext cx="3076575" cy="213270"/>
          </a:xfrm>
          <a:prstGeom prst="rect">
            <a:avLst/>
          </a:prstGeom>
          <a:noFill/>
        </p:spPr>
        <p:txBody>
          <a:bodyPr wrap="square" lIns="0" tIns="0" rIns="0" bIns="0" anchor="t">
            <a:spAutoFit/>
          </a:bodyPr>
          <a:lstStyle/>
          <a:p>
            <a:pPr algn="ctr">
              <a:lnSpc>
                <a:spcPts val="1679"/>
              </a:lnSpc>
            </a:pPr>
            <a:r>
              <a:rPr sz="1050" b="0" i="0" u="none">
                <a:solidFill>
                  <a:srgbClr val="6B7280"/>
                </a:solidFill>
                <a:latin typeface="Inter"/>
              </a:rPr>
              <a:t>BCA Major Project — Register No: 23923030019</a:t>
            </a:r>
          </a:p>
        </p:txBody>
      </p:sp>
      <p:sp>
        <p:nvSpPr>
          <p:cNvPr id="7" name="TextBox 6"/>
          <p:cNvSpPr txBox="1"/>
          <p:nvPr/>
        </p:nvSpPr>
        <p:spPr>
          <a:xfrm>
            <a:off x="4557712" y="5150941"/>
            <a:ext cx="3076575" cy="213270"/>
          </a:xfrm>
          <a:prstGeom prst="rect">
            <a:avLst/>
          </a:prstGeom>
          <a:noFill/>
        </p:spPr>
        <p:txBody>
          <a:bodyPr wrap="square" lIns="0" tIns="0" rIns="0" bIns="0" anchor="t">
            <a:spAutoFit/>
          </a:bodyPr>
          <a:lstStyle/>
          <a:p>
            <a:pPr algn="ctr">
              <a:lnSpc>
                <a:spcPts val="1679"/>
              </a:lnSpc>
            </a:pPr>
            <a:r>
              <a:rPr sz="1050" b="0" i="0" u="none">
                <a:solidFill>
                  <a:srgbClr val="6B7280"/>
                </a:solidFill>
                <a:latin typeface="Inter"/>
              </a:rPr>
              <a:t>KL University CDOE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10</cp:revision>
  <dcterms:created xsi:type="dcterms:W3CDTF">2013-01-27T09:14:16Z</dcterms:created>
  <dcterms:modified xsi:type="dcterms:W3CDTF">2026-08-31T15:21:50Z</dcterms:modified>
  <cp:category/>
</cp:coreProperties>
</file>