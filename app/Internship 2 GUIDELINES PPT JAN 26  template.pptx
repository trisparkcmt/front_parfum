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23" r:id="rId1"/>
  </p:sldMasterIdLst>
  <p:sldIdLst>
    <p:sldId id="256" r:id="rId2"/>
    <p:sldId id="306" r:id="rId3"/>
    <p:sldId id="257" r:id="rId4"/>
    <p:sldId id="287" r:id="rId5"/>
    <p:sldId id="304" r:id="rId6"/>
    <p:sldId id="305" r:id="rId7"/>
    <p:sldId id="302" r:id="rId8"/>
    <p:sldId id="288" r:id="rId9"/>
    <p:sldId id="289" r:id="rId10"/>
    <p:sldId id="290" r:id="rId11"/>
    <p:sldId id="29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1C24"/>
    <a:srgbClr val="0033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963" autoAdjust="0"/>
    <p:restoredTop sz="94660"/>
  </p:normalViewPr>
  <p:slideViewPr>
    <p:cSldViewPr snapToGrid="0">
      <p:cViewPr varScale="1">
        <p:scale>
          <a:sx n="105" d="100"/>
          <a:sy n="105" d="100"/>
        </p:scale>
        <p:origin x="14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2268424C-1D26-4FA3-8CEE-BD3D8214EB31}" type="datetimeFigureOut">
              <a:rPr lang="en-IN" smtClean="0"/>
              <a:t>23-05-2026</a:t>
            </a:fld>
            <a:endParaRPr lang="en-IN"/>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3673D3D6-ABFF-401A-9A2D-4CBEF63320F6}"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332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8424C-1D26-4FA3-8CEE-BD3D8214EB31}" type="datetimeFigureOut">
              <a:rPr lang="en-IN" smtClean="0"/>
              <a:t>23-05-2026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1361093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68424C-1D26-4FA3-8CEE-BD3D8214EB31}" type="datetimeFigureOut">
              <a:rPr lang="en-IN" smtClean="0"/>
              <a:t>23-05-2026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73D3D6-ABFF-401A-9A2D-4CBEF63320F6}"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406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68424C-1D26-4FA3-8CEE-BD3D8214EB31}" type="datetimeFigureOut">
              <a:rPr lang="en-IN" smtClean="0"/>
              <a:t>23-05-2026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1169174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68424C-1D26-4FA3-8CEE-BD3D8214EB31}" type="datetimeFigureOut">
              <a:rPr lang="en-IN" smtClean="0"/>
              <a:t>23-05-2026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1420658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68424C-1D26-4FA3-8CEE-BD3D8214EB31}" type="datetimeFigureOut">
              <a:rPr lang="en-IN" smtClean="0"/>
              <a:t>23-05-2026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598785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68424C-1D26-4FA3-8CEE-BD3D8214EB31}" type="datetimeFigureOut">
              <a:rPr lang="en-IN" smtClean="0"/>
              <a:t>23-05-2026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272823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68424C-1D26-4FA3-8CEE-BD3D8214EB31}" type="datetimeFigureOut">
              <a:rPr lang="en-IN" smtClean="0"/>
              <a:t>23-05-2026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2261278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68424C-1D26-4FA3-8CEE-BD3D8214EB31}" type="datetimeFigureOut">
              <a:rPr lang="en-IN" smtClean="0"/>
              <a:t>23-05-2026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3216005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8424C-1D26-4FA3-8CEE-BD3D8214EB31}" type="datetimeFigureOut">
              <a:rPr lang="en-IN" smtClean="0"/>
              <a:t>23-05-2026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484931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8424C-1D26-4FA3-8CEE-BD3D8214EB31}" type="datetimeFigureOut">
              <a:rPr lang="en-IN" smtClean="0"/>
              <a:t>23-05-2026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73D3D6-ABFF-401A-9A2D-4CBEF63320F6}" type="slidenum">
              <a:rPr lang="en-IN" smtClean="0"/>
              <a:t>‹#›</a:t>
            </a:fld>
            <a:endParaRPr lang="en-IN"/>
          </a:p>
        </p:txBody>
      </p:sp>
    </p:spTree>
    <p:extLst>
      <p:ext uri="{BB962C8B-B14F-4D97-AF65-F5344CB8AC3E}">
        <p14:creationId xmlns:p14="http://schemas.microsoft.com/office/powerpoint/2010/main" val="356165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2268424C-1D26-4FA3-8CEE-BD3D8214EB31}" type="datetimeFigureOut">
              <a:rPr lang="en-IN" smtClean="0"/>
              <a:t>23-05-2026</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3673D3D6-ABFF-401A-9A2D-4CBEF63320F6}" type="slidenum">
              <a:rPr lang="en-IN" smtClean="0"/>
              <a:t>‹#›</a:t>
            </a:fld>
            <a:endParaRPr lang="en-IN"/>
          </a:p>
        </p:txBody>
      </p:sp>
    </p:spTree>
    <p:extLst>
      <p:ext uri="{BB962C8B-B14F-4D97-AF65-F5344CB8AC3E}">
        <p14:creationId xmlns:p14="http://schemas.microsoft.com/office/powerpoint/2010/main" val="2380774695"/>
      </p:ext>
    </p:extLst>
  </p:cSld>
  <p:clrMap bg1="lt1" tx1="dk1" bg2="lt2" tx2="dk2" accent1="accent1" accent2="accent2" accent3="accent3" accent4="accent4" accent5="accent5" accent6="accent6" hlink="hlink" folHlink="folHlink"/>
  <p:sldLayoutIdLst>
    <p:sldLayoutId id="2147484224" r:id="rId1"/>
    <p:sldLayoutId id="2147484225" r:id="rId2"/>
    <p:sldLayoutId id="2147484226" r:id="rId3"/>
    <p:sldLayoutId id="2147484227" r:id="rId4"/>
    <p:sldLayoutId id="2147484228" r:id="rId5"/>
    <p:sldLayoutId id="2147484229" r:id="rId6"/>
    <p:sldLayoutId id="2147484230" r:id="rId7"/>
    <p:sldLayoutId id="2147484231" r:id="rId8"/>
    <p:sldLayoutId id="2147484232" r:id="rId9"/>
    <p:sldLayoutId id="2147484233" r:id="rId10"/>
    <p:sldLayoutId id="214748423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3F366-82BE-D7F9-C9E3-148474EC54F0}"/>
              </a:ext>
            </a:extLst>
          </p:cNvPr>
          <p:cNvSpPr>
            <a:spLocks noGrp="1"/>
          </p:cNvSpPr>
          <p:nvPr>
            <p:ph type="ctrTitle"/>
          </p:nvPr>
        </p:nvSpPr>
        <p:spPr>
          <a:xfrm>
            <a:off x="806894" y="5027625"/>
            <a:ext cx="11000096" cy="888544"/>
          </a:xfrm>
        </p:spPr>
        <p:txBody>
          <a:bodyPr>
            <a:normAutofit fontScale="90000"/>
          </a:bodyPr>
          <a:lstStyle/>
          <a:p>
            <a:r>
              <a:rPr lang="en-US" sz="4800" dirty="0">
                <a:latin typeface="Arial" panose="020B0604020202020204" pitchFamily="34" charset="0"/>
                <a:cs typeface="Arial" panose="020B0604020202020204" pitchFamily="34" charset="0"/>
              </a:rPr>
              <a:t>Internship-2</a:t>
            </a:r>
            <a:br>
              <a:rPr lang="en-US" sz="4800" dirty="0">
                <a:latin typeface="Arial" panose="020B0604020202020204" pitchFamily="34" charset="0"/>
                <a:cs typeface="Arial" panose="020B0604020202020204" pitchFamily="34" charset="0"/>
              </a:rPr>
            </a:br>
            <a:r>
              <a:rPr lang="en-US" sz="4800" dirty="0">
                <a:latin typeface="Arial" panose="020B0604020202020204" pitchFamily="34" charset="0"/>
                <a:cs typeface="Arial" panose="020B0604020202020204" pitchFamily="34" charset="0"/>
              </a:rPr>
              <a:t>V SEM</a:t>
            </a:r>
            <a:br>
              <a:rPr lang="en-US" sz="4800" dirty="0">
                <a:latin typeface="Arial" panose="020B0604020202020204" pitchFamily="34" charset="0"/>
                <a:cs typeface="Arial" panose="020B0604020202020204" pitchFamily="34" charset="0"/>
              </a:rPr>
            </a:br>
            <a:r>
              <a:rPr lang="en-US" sz="4800" dirty="0">
                <a:latin typeface="Arial" panose="020B0604020202020204" pitchFamily="34" charset="0"/>
                <a:cs typeface="Arial" panose="020B0604020202020204" pitchFamily="34" charset="0"/>
              </a:rPr>
              <a:t>BCA </a:t>
            </a:r>
            <a:endParaRPr lang="en-IN" sz="4800" dirty="0">
              <a:latin typeface="Arial" panose="020B0604020202020204" pitchFamily="34" charset="0"/>
              <a:cs typeface="Arial" panose="020B0604020202020204" pitchFamily="34" charset="0"/>
            </a:endParaRPr>
          </a:p>
        </p:txBody>
      </p:sp>
      <p:pic>
        <p:nvPicPr>
          <p:cNvPr id="3" name="Picture 2" descr="Logo&#10;&#10;Description automatically generated">
            <a:extLst>
              <a:ext uri="{FF2B5EF4-FFF2-40B4-BE49-F238E27FC236}">
                <a16:creationId xmlns:a16="http://schemas.microsoft.com/office/drawing/2014/main" id="{F93A693A-E4C0-A918-16AD-AEAD7DF6D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2944" y="-961881"/>
            <a:ext cx="8847995" cy="3449049"/>
          </a:xfrm>
          <a:prstGeom prst="rect">
            <a:avLst/>
          </a:prstGeom>
        </p:spPr>
      </p:pic>
      <p:sp>
        <p:nvSpPr>
          <p:cNvPr id="4" name="TextBox 3">
            <a:extLst>
              <a:ext uri="{FF2B5EF4-FFF2-40B4-BE49-F238E27FC236}">
                <a16:creationId xmlns:a16="http://schemas.microsoft.com/office/drawing/2014/main" id="{D604F3B7-49A5-0F5F-559F-BCC4D22E749A}"/>
              </a:ext>
            </a:extLst>
          </p:cNvPr>
          <p:cNvSpPr txBox="1"/>
          <p:nvPr/>
        </p:nvSpPr>
        <p:spPr>
          <a:xfrm>
            <a:off x="9029700" y="6186196"/>
            <a:ext cx="3025451" cy="400110"/>
          </a:xfrm>
          <a:prstGeom prst="rect">
            <a:avLst/>
          </a:prstGeom>
          <a:noFill/>
        </p:spPr>
        <p:txBody>
          <a:bodyPr wrap="square" rtlCol="0">
            <a:spAutoFit/>
          </a:bodyPr>
          <a:lstStyle/>
          <a:p>
            <a:r>
              <a:rPr lang="en-IN" sz="2000" b="1" dirty="0">
                <a:solidFill>
                  <a:schemeClr val="accent1"/>
                </a:solidFill>
              </a:rPr>
              <a:t>P. Sri Latha</a:t>
            </a:r>
          </a:p>
        </p:txBody>
      </p:sp>
      <p:sp>
        <p:nvSpPr>
          <p:cNvPr id="6" name="TextBox 5">
            <a:extLst>
              <a:ext uri="{FF2B5EF4-FFF2-40B4-BE49-F238E27FC236}">
                <a16:creationId xmlns:a16="http://schemas.microsoft.com/office/drawing/2014/main" id="{F55D4BFF-CE52-C013-9D90-AD9A08094C9E}"/>
              </a:ext>
            </a:extLst>
          </p:cNvPr>
          <p:cNvSpPr txBox="1"/>
          <p:nvPr/>
        </p:nvSpPr>
        <p:spPr>
          <a:xfrm>
            <a:off x="3047238" y="1877306"/>
            <a:ext cx="6094476" cy="1015663"/>
          </a:xfrm>
          <a:prstGeom prst="rect">
            <a:avLst/>
          </a:prstGeom>
          <a:noFill/>
        </p:spPr>
        <p:txBody>
          <a:bodyPr wrap="square">
            <a:spAutoFit/>
          </a:bodyPr>
          <a:lstStyle/>
          <a:p>
            <a:pPr algn="ctr"/>
            <a:r>
              <a:rPr lang="en-US" sz="6000" b="1" dirty="0">
                <a:latin typeface="Arial" panose="020B0604020202020204" pitchFamily="34" charset="0"/>
                <a:cs typeface="Arial" panose="020B0604020202020204" pitchFamily="34" charset="0"/>
              </a:rPr>
              <a:t>WELCOME</a:t>
            </a:r>
            <a:endParaRPr lang="en-IN" sz="6000" b="1" dirty="0"/>
          </a:p>
        </p:txBody>
      </p:sp>
    </p:spTree>
    <p:extLst>
      <p:ext uri="{BB962C8B-B14F-4D97-AF65-F5344CB8AC3E}">
        <p14:creationId xmlns:p14="http://schemas.microsoft.com/office/powerpoint/2010/main" val="4266487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28F08B08-28D9-3642-DC90-5D95B67112D1}"/>
            </a:ext>
          </a:extLst>
        </p:cNvPr>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9E63AC75-C80F-D937-A8BB-0E875E19C8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2944" y="-961881"/>
            <a:ext cx="8847995" cy="4409820"/>
          </a:xfrm>
          <a:prstGeom prst="rect">
            <a:avLst/>
          </a:prstGeom>
        </p:spPr>
      </p:pic>
      <p:sp>
        <p:nvSpPr>
          <p:cNvPr id="4" name="TextBox 3">
            <a:extLst>
              <a:ext uri="{FF2B5EF4-FFF2-40B4-BE49-F238E27FC236}">
                <a16:creationId xmlns:a16="http://schemas.microsoft.com/office/drawing/2014/main" id="{E619A784-CCB0-987F-E5C0-A075327C1D50}"/>
              </a:ext>
            </a:extLst>
          </p:cNvPr>
          <p:cNvSpPr txBox="1"/>
          <p:nvPr/>
        </p:nvSpPr>
        <p:spPr>
          <a:xfrm>
            <a:off x="9723233" y="6186196"/>
            <a:ext cx="2331918" cy="400110"/>
          </a:xfrm>
          <a:prstGeom prst="rect">
            <a:avLst/>
          </a:prstGeom>
          <a:noFill/>
        </p:spPr>
        <p:txBody>
          <a:bodyPr wrap="square" rtlCol="0">
            <a:spAutoFit/>
          </a:bodyPr>
          <a:lstStyle/>
          <a:p>
            <a:r>
              <a:rPr lang="en-IN" sz="2000" b="1" dirty="0">
                <a:solidFill>
                  <a:schemeClr val="accent1"/>
                </a:solidFill>
              </a:rPr>
              <a:t>Prof. P. Sri Latha</a:t>
            </a:r>
          </a:p>
        </p:txBody>
      </p:sp>
      <p:sp>
        <p:nvSpPr>
          <p:cNvPr id="6" name="TextBox 5">
            <a:extLst>
              <a:ext uri="{FF2B5EF4-FFF2-40B4-BE49-F238E27FC236}">
                <a16:creationId xmlns:a16="http://schemas.microsoft.com/office/drawing/2014/main" id="{B83BEFF1-DF4C-EFB2-E694-1957671B33E3}"/>
              </a:ext>
            </a:extLst>
          </p:cNvPr>
          <p:cNvSpPr txBox="1"/>
          <p:nvPr/>
        </p:nvSpPr>
        <p:spPr>
          <a:xfrm>
            <a:off x="3047238" y="2553962"/>
            <a:ext cx="7261818" cy="646331"/>
          </a:xfrm>
          <a:prstGeom prst="rect">
            <a:avLst/>
          </a:prstGeom>
          <a:noFill/>
        </p:spPr>
        <p:txBody>
          <a:bodyPr wrap="square">
            <a:spAutoFit/>
          </a:bodyPr>
          <a:lstStyle/>
          <a:p>
            <a:r>
              <a:rPr lang="en-US" sz="3600" b="1" dirty="0">
                <a:solidFill>
                  <a:srgbClr val="FF0000"/>
                </a:solidFill>
                <a:latin typeface="Arial" panose="020B0604020202020204" pitchFamily="34" charset="0"/>
                <a:cs typeface="Arial" panose="020B0604020202020204" pitchFamily="34" charset="0"/>
              </a:rPr>
              <a:t>Internship-2</a:t>
            </a:r>
            <a:r>
              <a:rPr lang="en-US" sz="3600" dirty="0">
                <a:latin typeface="Arial" panose="020B0604020202020204" pitchFamily="34" charset="0"/>
                <a:cs typeface="Arial" panose="020B0604020202020204" pitchFamily="34" charset="0"/>
              </a:rPr>
              <a:t> </a:t>
            </a:r>
            <a:r>
              <a:rPr lang="en-US" sz="3600" b="1" dirty="0">
                <a:solidFill>
                  <a:srgbClr val="FF0000"/>
                </a:solidFill>
                <a:latin typeface="Arial" panose="020B0604020202020204" pitchFamily="34" charset="0"/>
                <a:cs typeface="Arial" panose="020B0604020202020204" pitchFamily="34" charset="0"/>
              </a:rPr>
              <a:t>GUIDELINES </a:t>
            </a:r>
            <a:endParaRPr lang="en-IN" sz="3600" b="1" dirty="0">
              <a:solidFill>
                <a:srgbClr val="FF0000"/>
              </a:solidFill>
            </a:endParaRPr>
          </a:p>
        </p:txBody>
      </p:sp>
    </p:spTree>
    <p:extLst>
      <p:ext uri="{BB962C8B-B14F-4D97-AF65-F5344CB8AC3E}">
        <p14:creationId xmlns:p14="http://schemas.microsoft.com/office/powerpoint/2010/main" val="1390753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E8EE51-5EEA-F0EC-54DA-4366262A8391}"/>
              </a:ext>
            </a:extLst>
          </p:cNvPr>
          <p:cNvSpPr txBox="1"/>
          <p:nvPr/>
        </p:nvSpPr>
        <p:spPr>
          <a:xfrm>
            <a:off x="2855348" y="3428233"/>
            <a:ext cx="6047111" cy="1569660"/>
          </a:xfrm>
          <a:prstGeom prst="rect">
            <a:avLst/>
          </a:prstGeom>
          <a:noFill/>
        </p:spPr>
        <p:txBody>
          <a:bodyPr wrap="square" rtlCol="0">
            <a:spAutoFit/>
          </a:bodyPr>
          <a:lstStyle/>
          <a:p>
            <a:pPr algn="ctr"/>
            <a:r>
              <a:rPr lang="en-US" sz="3200" b="1" dirty="0">
                <a:solidFill>
                  <a:srgbClr val="0070C0"/>
                </a:solidFill>
                <a:latin typeface="Calibri" panose="020F0502020204030204" pitchFamily="34" charset="0"/>
                <a:cs typeface="Calibri" panose="020F0502020204030204" pitchFamily="34" charset="0"/>
              </a:rPr>
              <a:t>L-T-P-S</a:t>
            </a:r>
          </a:p>
          <a:p>
            <a:pPr algn="ctr"/>
            <a:r>
              <a:rPr lang="en-US" sz="3200" b="1" dirty="0">
                <a:solidFill>
                  <a:srgbClr val="0070C0"/>
                </a:solidFill>
                <a:latin typeface="Amasis MT Pro Medium" panose="02040604050005020304" pitchFamily="18" charset="0"/>
              </a:rPr>
              <a:t>0-0-20-0</a:t>
            </a:r>
          </a:p>
          <a:p>
            <a:pPr algn="ctr"/>
            <a:r>
              <a:rPr lang="en-US" sz="3200" b="1" dirty="0">
                <a:solidFill>
                  <a:srgbClr val="0070C0"/>
                </a:solidFill>
                <a:latin typeface="Amasis MT Pro Medium" panose="02040604050005020304" pitchFamily="18" charset="0"/>
              </a:rPr>
              <a:t>10 Credits</a:t>
            </a:r>
            <a:endParaRPr lang="en-IN" sz="3200" b="1" dirty="0">
              <a:solidFill>
                <a:srgbClr val="0070C0"/>
              </a:solidFill>
            </a:endParaRPr>
          </a:p>
        </p:txBody>
      </p:sp>
      <p:sp>
        <p:nvSpPr>
          <p:cNvPr id="3" name="TextBox 2">
            <a:extLst>
              <a:ext uri="{FF2B5EF4-FFF2-40B4-BE49-F238E27FC236}">
                <a16:creationId xmlns:a16="http://schemas.microsoft.com/office/drawing/2014/main" id="{3ECA4110-00D1-9E56-0B01-4C99A523E01F}"/>
              </a:ext>
            </a:extLst>
          </p:cNvPr>
          <p:cNvSpPr txBox="1"/>
          <p:nvPr/>
        </p:nvSpPr>
        <p:spPr>
          <a:xfrm>
            <a:off x="1969266" y="1863885"/>
            <a:ext cx="7949601" cy="1323439"/>
          </a:xfrm>
          <a:prstGeom prst="rect">
            <a:avLst/>
          </a:prstGeom>
          <a:noFill/>
        </p:spPr>
        <p:txBody>
          <a:bodyPr wrap="square" rtlCol="0">
            <a:spAutoFit/>
          </a:bodyPr>
          <a:lstStyle/>
          <a:p>
            <a:pPr algn="ctr"/>
            <a:r>
              <a:rPr lang="en-US" sz="4000" b="1" dirty="0">
                <a:solidFill>
                  <a:srgbClr val="00336E"/>
                </a:solidFill>
                <a:latin typeface="Arial" panose="020B0604020202020204" pitchFamily="34" charset="0"/>
                <a:cs typeface="Arial" panose="020B0604020202020204" pitchFamily="34" charset="0"/>
              </a:rPr>
              <a:t>22CA32E2OJ</a:t>
            </a:r>
          </a:p>
          <a:p>
            <a:pPr algn="ctr"/>
            <a:r>
              <a:rPr lang="en-US" sz="4000" b="1" dirty="0">
                <a:latin typeface="Arial" panose="020B0604020202020204" pitchFamily="34" charset="0"/>
                <a:cs typeface="Arial" panose="020B0604020202020204" pitchFamily="34" charset="0"/>
              </a:rPr>
              <a:t>Internship-2</a:t>
            </a:r>
            <a:endParaRPr lang="en-IN" sz="4000" b="1" dirty="0"/>
          </a:p>
        </p:txBody>
      </p:sp>
      <p:pic>
        <p:nvPicPr>
          <p:cNvPr id="2" name="Picture 1" descr="Logo&#10;&#10;Description automatically generated">
            <a:extLst>
              <a:ext uri="{FF2B5EF4-FFF2-40B4-BE49-F238E27FC236}">
                <a16:creationId xmlns:a16="http://schemas.microsoft.com/office/drawing/2014/main" id="{9792C337-51EF-4811-72C9-69772CC83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746" y="-1014249"/>
            <a:ext cx="5924760" cy="3356753"/>
          </a:xfrm>
          <a:prstGeom prst="rect">
            <a:avLst/>
          </a:prstGeom>
        </p:spPr>
      </p:pic>
    </p:spTree>
    <p:extLst>
      <p:ext uri="{BB962C8B-B14F-4D97-AF65-F5344CB8AC3E}">
        <p14:creationId xmlns:p14="http://schemas.microsoft.com/office/powerpoint/2010/main" val="420270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DCB655-03CA-7555-5B1A-F632799C13BB}"/>
              </a:ext>
            </a:extLst>
          </p:cNvPr>
          <p:cNvSpPr txBox="1"/>
          <p:nvPr/>
        </p:nvSpPr>
        <p:spPr>
          <a:xfrm>
            <a:off x="4447713" y="-156975"/>
            <a:ext cx="6915704"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a:t>
            </a:r>
            <a:r>
              <a:rPr lang="en-US" sz="3200" dirty="0">
                <a:latin typeface="Arial" panose="020B0604020202020204" pitchFamily="34" charset="0"/>
                <a:cs typeface="Arial" panose="020B0604020202020204" pitchFamily="34" charset="0"/>
              </a:rPr>
              <a:t> </a:t>
            </a:r>
            <a:r>
              <a:rPr lang="en-US" sz="3200" b="1" dirty="0">
                <a:solidFill>
                  <a:srgbClr val="00336E"/>
                </a:solidFill>
                <a:latin typeface="Arial" panose="020B0604020202020204" pitchFamily="34" charset="0"/>
                <a:cs typeface="Arial" panose="020B0604020202020204" pitchFamily="34" charset="0"/>
              </a:rPr>
              <a:t>Guidelines</a:t>
            </a:r>
            <a:endParaRPr lang="en-IN" dirty="0"/>
          </a:p>
        </p:txBody>
      </p:sp>
      <p:pic>
        <p:nvPicPr>
          <p:cNvPr id="3" name="Picture 2" descr="Logo&#10;&#10;Description automatically generated">
            <a:extLst>
              <a:ext uri="{FF2B5EF4-FFF2-40B4-BE49-F238E27FC236}">
                <a16:creationId xmlns:a16="http://schemas.microsoft.com/office/drawing/2014/main" id="{1B210FAD-05C6-D183-64BA-95CEF8EC7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 y="-989874"/>
            <a:ext cx="5924760" cy="3356753"/>
          </a:xfrm>
          <a:prstGeom prst="rect">
            <a:avLst/>
          </a:prstGeom>
        </p:spPr>
      </p:pic>
      <p:sp>
        <p:nvSpPr>
          <p:cNvPr id="4" name="TextBox 3">
            <a:extLst>
              <a:ext uri="{FF2B5EF4-FFF2-40B4-BE49-F238E27FC236}">
                <a16:creationId xmlns:a16="http://schemas.microsoft.com/office/drawing/2014/main" id="{05B745BE-7981-04DF-1167-34E3AF28F6F3}"/>
              </a:ext>
            </a:extLst>
          </p:cNvPr>
          <p:cNvSpPr txBox="1"/>
          <p:nvPr/>
        </p:nvSpPr>
        <p:spPr>
          <a:xfrm>
            <a:off x="435006" y="946390"/>
            <a:ext cx="11354540" cy="6304290"/>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solidFill>
                  <a:srgbClr val="0070C0"/>
                </a:solidFill>
                <a:latin typeface="Arial" panose="020B0604020202020204" pitchFamily="34" charset="0"/>
                <a:cs typeface="Arial" panose="020B0604020202020204" pitchFamily="34" charset="0"/>
              </a:rPr>
              <a:t>1.</a:t>
            </a: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Topic Selection, Guide Allocation, Topic Finalization</a:t>
            </a:r>
          </a:p>
          <a:p>
            <a:pPr>
              <a:lnSpc>
                <a:spcPts val="1800"/>
              </a:lnSpc>
              <a:spcBef>
                <a:spcPts val="750"/>
              </a:spcBef>
              <a:spcAft>
                <a:spcPts val="600"/>
              </a:spcAft>
              <a:buFont typeface="Arial" panose="020B0604020202020204" pitchFamily="34" charset="0"/>
              <a:buChar char="•"/>
            </a:pPr>
            <a:r>
              <a:rPr lang="en-US" sz="2000" b="1" dirty="0">
                <a:latin typeface="Google Sans"/>
              </a:rPr>
              <a:t>Topic Selection:</a:t>
            </a:r>
            <a:r>
              <a:rPr lang="en-US" sz="2000" dirty="0">
                <a:latin typeface="Google Sans"/>
              </a:rPr>
              <a:t> </a:t>
            </a:r>
          </a:p>
          <a:p>
            <a:pPr>
              <a:lnSpc>
                <a:spcPts val="1800"/>
              </a:lnSpc>
              <a:spcBef>
                <a:spcPts val="750"/>
              </a:spcBef>
              <a:spcAft>
                <a:spcPts val="600"/>
              </a:spcAft>
              <a:buFont typeface="Arial" panose="020B0604020202020204" pitchFamily="34" charset="0"/>
              <a:buChar char="•"/>
            </a:pPr>
            <a:r>
              <a:rPr lang="en-US" sz="2000" dirty="0">
                <a:solidFill>
                  <a:srgbClr val="001D35"/>
                </a:solidFill>
                <a:latin typeface="Google Sans"/>
              </a:rPr>
              <a:t>Choose a project that aligns with your interests and future career goals, considering current technology trends in AI/ML, web development, IoT, or cybersecurity. </a:t>
            </a:r>
          </a:p>
          <a:p>
            <a:pPr>
              <a:lnSpc>
                <a:spcPts val="1800"/>
              </a:lnSpc>
              <a:spcBef>
                <a:spcPts val="750"/>
              </a:spcBef>
              <a:spcAft>
                <a:spcPts val="600"/>
              </a:spcAft>
              <a:buFont typeface="Arial" panose="020B0604020202020204" pitchFamily="34" charset="0"/>
              <a:buChar char="•"/>
            </a:pPr>
            <a:r>
              <a:rPr lang="en-US" sz="2000" b="1" dirty="0">
                <a:solidFill>
                  <a:srgbClr val="001D35"/>
                </a:solidFill>
                <a:latin typeface="Google Sans"/>
              </a:rPr>
              <a:t>Mentor Consultation:</a:t>
            </a:r>
            <a:r>
              <a:rPr lang="en-US" sz="2000" dirty="0">
                <a:solidFill>
                  <a:srgbClr val="001D35"/>
                </a:solidFill>
                <a:latin typeface="Google Sans"/>
              </a:rPr>
              <a:t> </a:t>
            </a:r>
          </a:p>
          <a:p>
            <a:pPr>
              <a:lnSpc>
                <a:spcPts val="1800"/>
              </a:lnSpc>
              <a:spcBef>
                <a:spcPts val="750"/>
              </a:spcBef>
              <a:spcAft>
                <a:spcPts val="600"/>
              </a:spcAft>
              <a:buFont typeface="Arial" panose="020B0604020202020204" pitchFamily="34" charset="0"/>
              <a:buChar char="•"/>
            </a:pPr>
            <a:r>
              <a:rPr lang="en-US" sz="2000" b="1" dirty="0">
                <a:solidFill>
                  <a:srgbClr val="001D35"/>
                </a:solidFill>
                <a:latin typeface="Google Sans"/>
              </a:rPr>
              <a:t>Project Plan:</a:t>
            </a:r>
            <a:r>
              <a:rPr lang="en-US" sz="2000" dirty="0">
                <a:solidFill>
                  <a:srgbClr val="001D35"/>
                </a:solidFill>
                <a:latin typeface="Google Sans"/>
              </a:rPr>
              <a:t> </a:t>
            </a:r>
          </a:p>
          <a:p>
            <a:pPr>
              <a:lnSpc>
                <a:spcPts val="1800"/>
              </a:lnSpc>
              <a:spcBef>
                <a:spcPts val="750"/>
              </a:spcBef>
              <a:spcAft>
                <a:spcPts val="600"/>
              </a:spcAft>
              <a:buFont typeface="Arial" panose="020B0604020202020204" pitchFamily="34" charset="0"/>
              <a:buChar char="•"/>
            </a:pPr>
            <a:r>
              <a:rPr lang="en-US" sz="2000" dirty="0">
                <a:solidFill>
                  <a:srgbClr val="001D35"/>
                </a:solidFill>
                <a:latin typeface="Google Sans"/>
              </a:rPr>
              <a:t>Create a detailed plan outlining the project's objectives, scope, methodology, and expected outcomes. </a:t>
            </a:r>
          </a:p>
          <a:p>
            <a:pPr>
              <a:lnSpc>
                <a:spcPts val="1800"/>
              </a:lnSpc>
              <a:spcBef>
                <a:spcPts val="750"/>
              </a:spcBef>
              <a:spcAft>
                <a:spcPts val="600"/>
              </a:spcAft>
              <a:buFont typeface="Arial" panose="020B0604020202020204" pitchFamily="34" charset="0"/>
              <a:buChar char="•"/>
            </a:pPr>
            <a:r>
              <a:rPr lang="en-US" sz="2000" b="1" dirty="0">
                <a:solidFill>
                  <a:srgbClr val="001D35"/>
                </a:solidFill>
                <a:latin typeface="Google Sans"/>
              </a:rPr>
              <a:t>Feasibility Study:</a:t>
            </a:r>
            <a:r>
              <a:rPr lang="en-US" sz="2000" dirty="0">
                <a:solidFill>
                  <a:srgbClr val="001D35"/>
                </a:solidFill>
                <a:latin typeface="Google Sans"/>
              </a:rPr>
              <a:t> </a:t>
            </a:r>
          </a:p>
          <a:p>
            <a:pPr>
              <a:lnSpc>
                <a:spcPts val="1800"/>
              </a:lnSpc>
              <a:spcBef>
                <a:spcPts val="750"/>
              </a:spcBef>
              <a:spcAft>
                <a:spcPts val="600"/>
              </a:spcAft>
              <a:buFont typeface="Arial" panose="020B0604020202020204" pitchFamily="34" charset="0"/>
              <a:buChar char="•"/>
            </a:pPr>
            <a:r>
              <a:rPr lang="en-US" sz="2000" dirty="0">
                <a:solidFill>
                  <a:srgbClr val="001D35"/>
                </a:solidFill>
                <a:latin typeface="Google Sans"/>
              </a:rPr>
              <a:t>Conduct a feasibility study to assess the project's need and significance, including the required facilities, software, and hardware. </a:t>
            </a:r>
          </a:p>
          <a:p>
            <a:pPr>
              <a:lnSpc>
                <a:spcPts val="1800"/>
              </a:lnSpc>
              <a:spcBef>
                <a:spcPts val="750"/>
              </a:spcBef>
              <a:spcAft>
                <a:spcPts val="600"/>
              </a:spcAft>
            </a:pPr>
            <a:endParaRPr lang="en-US" sz="2000" dirty="0">
              <a:solidFill>
                <a:srgbClr val="001D35"/>
              </a:solidFill>
              <a:latin typeface="Google Sans"/>
            </a:endParaRPr>
          </a:p>
          <a:p>
            <a:pPr>
              <a:lnSpc>
                <a:spcPts val="1800"/>
              </a:lnSpc>
              <a:spcBef>
                <a:spcPts val="750"/>
              </a:spcBef>
              <a:spcAft>
                <a:spcPts val="1500"/>
              </a:spcAft>
            </a:pPr>
            <a:r>
              <a:rPr lang="en-US" sz="2800" b="1" dirty="0">
                <a:solidFill>
                  <a:srgbClr val="0070C0"/>
                </a:solidFill>
                <a:latin typeface="Google Sans"/>
              </a:rPr>
              <a:t>2.Literature Review:</a:t>
            </a:r>
            <a:r>
              <a:rPr lang="en-US" sz="2800" dirty="0">
                <a:solidFill>
                  <a:srgbClr val="0070C0"/>
                </a:solidFill>
                <a:latin typeface="Google Sans"/>
              </a:rPr>
              <a:t> </a:t>
            </a:r>
          </a:p>
          <a:p>
            <a:pPr>
              <a:lnSpc>
                <a:spcPts val="1800"/>
              </a:lnSpc>
              <a:spcBef>
                <a:spcPts val="750"/>
              </a:spcBef>
              <a:spcAft>
                <a:spcPts val="1500"/>
              </a:spcAft>
              <a:buFont typeface="Arial" panose="020B0604020202020204" pitchFamily="34" charset="0"/>
              <a:buChar char="•"/>
            </a:pPr>
            <a:r>
              <a:rPr lang="en-US" sz="2000" dirty="0">
                <a:solidFill>
                  <a:srgbClr val="001D35"/>
                </a:solidFill>
                <a:latin typeface="Google Sans"/>
              </a:rPr>
              <a:t>Research existing work by reviewing 4-5 relevant papers, journals, or articles. </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336587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A713E-1C14-2B12-7393-0FC7CCB9F5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6323DE-2324-866B-662B-28D11CDE07E2}"/>
              </a:ext>
            </a:extLst>
          </p:cNvPr>
          <p:cNvSpPr txBox="1"/>
          <p:nvPr/>
        </p:nvSpPr>
        <p:spPr>
          <a:xfrm>
            <a:off x="4447713" y="-156975"/>
            <a:ext cx="6915704"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a:t>
            </a:r>
            <a:r>
              <a:rPr lang="en-US" sz="3200" dirty="0">
                <a:latin typeface="Arial" panose="020B0604020202020204" pitchFamily="34" charset="0"/>
                <a:cs typeface="Arial" panose="020B0604020202020204" pitchFamily="34" charset="0"/>
              </a:rPr>
              <a:t> </a:t>
            </a:r>
            <a:r>
              <a:rPr lang="en-US" sz="3200" b="1" dirty="0">
                <a:solidFill>
                  <a:srgbClr val="00336E"/>
                </a:solidFill>
                <a:latin typeface="Arial" panose="020B0604020202020204" pitchFamily="34" charset="0"/>
                <a:cs typeface="Arial" panose="020B0604020202020204" pitchFamily="34" charset="0"/>
              </a:rPr>
              <a:t>Guidelines</a:t>
            </a:r>
            <a:endParaRPr lang="en-IN" dirty="0"/>
          </a:p>
        </p:txBody>
      </p:sp>
      <p:pic>
        <p:nvPicPr>
          <p:cNvPr id="3" name="Picture 2" descr="Logo&#10;&#10;Description automatically generated">
            <a:extLst>
              <a:ext uri="{FF2B5EF4-FFF2-40B4-BE49-F238E27FC236}">
                <a16:creationId xmlns:a16="http://schemas.microsoft.com/office/drawing/2014/main" id="{9D01B96A-C0F2-0F6B-472A-AFF03EE7E7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 y="-989874"/>
            <a:ext cx="5924760" cy="3356753"/>
          </a:xfrm>
          <a:prstGeom prst="rect">
            <a:avLst/>
          </a:prstGeom>
        </p:spPr>
      </p:pic>
      <p:sp>
        <p:nvSpPr>
          <p:cNvPr id="4" name="TextBox 3">
            <a:extLst>
              <a:ext uri="{FF2B5EF4-FFF2-40B4-BE49-F238E27FC236}">
                <a16:creationId xmlns:a16="http://schemas.microsoft.com/office/drawing/2014/main" id="{E94753B1-34D4-C5F7-03CE-BA2C288FEE32}"/>
              </a:ext>
            </a:extLst>
          </p:cNvPr>
          <p:cNvSpPr txBox="1"/>
          <p:nvPr/>
        </p:nvSpPr>
        <p:spPr>
          <a:xfrm>
            <a:off x="435006" y="946390"/>
            <a:ext cx="11354540" cy="4278094"/>
          </a:xfrm>
          <a:prstGeom prst="rect">
            <a:avLst/>
          </a:prstGeom>
          <a:noFill/>
        </p:spPr>
        <p:txBody>
          <a:bodyPr wrap="square" rtlCol="0">
            <a:spAutoFit/>
          </a:bodyPr>
          <a:lstStyle/>
          <a:p>
            <a:r>
              <a:rPr lang="en-US" sz="3600" b="1" dirty="0">
                <a:solidFill>
                  <a:srgbClr val="0070C0"/>
                </a:solidFill>
              </a:rPr>
              <a:t>3. </a:t>
            </a:r>
            <a:r>
              <a:rPr lang="en-US" sz="2800" b="1" dirty="0">
                <a:solidFill>
                  <a:srgbClr val="0070C0"/>
                </a:solidFill>
              </a:rPr>
              <a:t>Project Development</a:t>
            </a:r>
          </a:p>
          <a:p>
            <a:endParaRPr lang="en-US" sz="2800" b="1" dirty="0"/>
          </a:p>
          <a:p>
            <a:r>
              <a:rPr lang="en-US" b="1" dirty="0"/>
              <a:t>Methodology: </a:t>
            </a:r>
          </a:p>
          <a:p>
            <a:r>
              <a:rPr lang="en-US" dirty="0"/>
              <a:t>Define the research type, methods, and tools you will use for data collection and analysis. </a:t>
            </a:r>
          </a:p>
          <a:p>
            <a:endParaRPr lang="en-US" dirty="0"/>
          </a:p>
          <a:p>
            <a:r>
              <a:rPr lang="en-US" b="1" dirty="0"/>
              <a:t>Implementation:</a:t>
            </a:r>
            <a:r>
              <a:rPr lang="en-US" dirty="0"/>
              <a:t> </a:t>
            </a:r>
          </a:p>
          <a:p>
            <a:r>
              <a:rPr lang="en-US" dirty="0"/>
              <a:t>Follow the plan to design, develop, and implement the project solution. This could involve using technologies like Python with libraries such as TensorFlow or scikit-learn, MERN stack for web development, or specific frameworks for mobile or IoT projects. </a:t>
            </a:r>
          </a:p>
          <a:p>
            <a:endParaRPr lang="en-US" dirty="0"/>
          </a:p>
          <a:p>
            <a:r>
              <a:rPr lang="en-US" b="1" dirty="0"/>
              <a:t>User Feedback:</a:t>
            </a:r>
            <a:r>
              <a:rPr lang="en-US" dirty="0"/>
              <a:t> </a:t>
            </a:r>
          </a:p>
          <a:p>
            <a:r>
              <a:rPr lang="en-US" dirty="0"/>
              <a:t>If applicable, incorporate user feedback and interaction during the development process to refine the solution. </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61117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0FD74-5E89-2C87-D337-9C73DC3750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BA884C-C96F-1033-C1F2-A0EEA8AAC232}"/>
              </a:ext>
            </a:extLst>
          </p:cNvPr>
          <p:cNvSpPr txBox="1"/>
          <p:nvPr/>
        </p:nvSpPr>
        <p:spPr>
          <a:xfrm>
            <a:off x="4447713" y="-156975"/>
            <a:ext cx="6915704"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a:t>
            </a:r>
            <a:r>
              <a:rPr lang="en-US" sz="3200" dirty="0">
                <a:latin typeface="Arial" panose="020B0604020202020204" pitchFamily="34" charset="0"/>
                <a:cs typeface="Arial" panose="020B0604020202020204" pitchFamily="34" charset="0"/>
              </a:rPr>
              <a:t> </a:t>
            </a:r>
            <a:r>
              <a:rPr lang="en-US" sz="3200" b="1" dirty="0">
                <a:solidFill>
                  <a:srgbClr val="00336E"/>
                </a:solidFill>
                <a:latin typeface="Arial" panose="020B0604020202020204" pitchFamily="34" charset="0"/>
                <a:cs typeface="Arial" panose="020B0604020202020204" pitchFamily="34" charset="0"/>
              </a:rPr>
              <a:t>Guidelines</a:t>
            </a:r>
            <a:endParaRPr lang="en-IN" dirty="0"/>
          </a:p>
        </p:txBody>
      </p:sp>
      <p:pic>
        <p:nvPicPr>
          <p:cNvPr id="3" name="Picture 2" descr="Logo&#10;&#10;Description automatically generated">
            <a:extLst>
              <a:ext uri="{FF2B5EF4-FFF2-40B4-BE49-F238E27FC236}">
                <a16:creationId xmlns:a16="http://schemas.microsoft.com/office/drawing/2014/main" id="{4DBD0B2E-C1DA-EC0E-A5C5-DD138E25B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 y="-989874"/>
            <a:ext cx="5924760" cy="3356753"/>
          </a:xfrm>
          <a:prstGeom prst="rect">
            <a:avLst/>
          </a:prstGeom>
        </p:spPr>
      </p:pic>
      <p:sp>
        <p:nvSpPr>
          <p:cNvPr id="4" name="TextBox 3">
            <a:extLst>
              <a:ext uri="{FF2B5EF4-FFF2-40B4-BE49-F238E27FC236}">
                <a16:creationId xmlns:a16="http://schemas.microsoft.com/office/drawing/2014/main" id="{FC5F502B-BC77-273E-2DB1-21FC4B51C7DD}"/>
              </a:ext>
            </a:extLst>
          </p:cNvPr>
          <p:cNvSpPr txBox="1"/>
          <p:nvPr/>
        </p:nvSpPr>
        <p:spPr>
          <a:xfrm>
            <a:off x="435006" y="946390"/>
            <a:ext cx="11354540" cy="4216539"/>
          </a:xfrm>
          <a:prstGeom prst="rect">
            <a:avLst/>
          </a:prstGeom>
          <a:noFill/>
        </p:spPr>
        <p:txBody>
          <a:bodyPr wrap="square" rtlCol="0">
            <a:spAutoFit/>
          </a:bodyPr>
          <a:lstStyle/>
          <a:p>
            <a:endPar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4</a:t>
            </a:r>
            <a:r>
              <a:rPr lang="en-US" sz="2800" b="1" dirty="0">
                <a:solidFill>
                  <a:srgbClr val="0070C0"/>
                </a:solidFill>
              </a:rPr>
              <a:t>. Documentation and Final Submission</a:t>
            </a:r>
          </a:p>
          <a:p>
            <a:r>
              <a:rPr lang="en-US" b="1" dirty="0"/>
              <a:t>Report Structure:</a:t>
            </a:r>
            <a:r>
              <a:rPr lang="en-US" dirty="0"/>
              <a:t> </a:t>
            </a:r>
          </a:p>
          <a:p>
            <a:r>
              <a:rPr lang="en-US" dirty="0"/>
              <a:t>Adhere to your university's specific guidelines for report structure and format. A typical structure includes preliminary pages (cover, title, declaration, acknowledgements), abstract, table of contents, chapters, appendices, and references in a standard format, like IEEE. </a:t>
            </a:r>
          </a:p>
          <a:p>
            <a:r>
              <a:rPr lang="en-US" b="1" dirty="0"/>
              <a:t>Content:</a:t>
            </a:r>
            <a:r>
              <a:rPr lang="en-US" dirty="0"/>
              <a:t> </a:t>
            </a:r>
          </a:p>
          <a:p>
            <a:r>
              <a:rPr lang="en-US" dirty="0"/>
              <a:t>Ensure all chapters are included, such as an introduction, literature review, feasibility study, methodology, design, implementation, and a conclusion. </a:t>
            </a:r>
          </a:p>
          <a:p>
            <a:r>
              <a:rPr lang="en-US" b="1" dirty="0"/>
              <a:t>Formatting:</a:t>
            </a:r>
            <a:r>
              <a:rPr lang="en-US" dirty="0"/>
              <a:t> </a:t>
            </a:r>
          </a:p>
          <a:p>
            <a:r>
              <a:rPr lang="en-US" dirty="0"/>
              <a:t>Follow specified formatting rules, such as font type (e.g., Times New Roman), size (e.g., 12), and page margins. The report length is often limited, for example, to less than 100 pages. </a:t>
            </a:r>
          </a:p>
          <a:p>
            <a:endParaRPr lang="en-US" sz="3200" b="1" dirty="0">
              <a:solidFill>
                <a:srgbClr val="0070C0"/>
              </a:solidFill>
            </a:endParaRPr>
          </a:p>
        </p:txBody>
      </p:sp>
    </p:spTree>
    <p:extLst>
      <p:ext uri="{BB962C8B-B14F-4D97-AF65-F5344CB8AC3E}">
        <p14:creationId xmlns:p14="http://schemas.microsoft.com/office/powerpoint/2010/main" val="411007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A0942-67CA-332C-BD60-468FB90984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C92549-A38D-F487-D1D1-5B1D439BB06F}"/>
              </a:ext>
            </a:extLst>
          </p:cNvPr>
          <p:cNvSpPr txBox="1"/>
          <p:nvPr/>
        </p:nvSpPr>
        <p:spPr>
          <a:xfrm>
            <a:off x="4235490" y="106598"/>
            <a:ext cx="5693514"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a:t>
            </a:r>
            <a:r>
              <a:rPr lang="en-US" sz="3200" dirty="0">
                <a:latin typeface="Arial" panose="020B0604020202020204" pitchFamily="34" charset="0"/>
                <a:cs typeface="Arial" panose="020B0604020202020204" pitchFamily="34" charset="0"/>
              </a:rPr>
              <a:t> </a:t>
            </a:r>
            <a:r>
              <a:rPr lang="en-IN" sz="3200" b="1" dirty="0">
                <a:solidFill>
                  <a:srgbClr val="FF0000"/>
                </a:solidFill>
              </a:rPr>
              <a:t>TOPICS</a:t>
            </a:r>
          </a:p>
        </p:txBody>
      </p:sp>
      <p:pic>
        <p:nvPicPr>
          <p:cNvPr id="3" name="Picture 2" descr="Logo&#10;&#10;Description automatically generated">
            <a:extLst>
              <a:ext uri="{FF2B5EF4-FFF2-40B4-BE49-F238E27FC236}">
                <a16:creationId xmlns:a16="http://schemas.microsoft.com/office/drawing/2014/main" id="{EA80747B-1857-E7EE-ADA4-A433FA50E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 y="-989874"/>
            <a:ext cx="5924760" cy="3356753"/>
          </a:xfrm>
          <a:prstGeom prst="rect">
            <a:avLst/>
          </a:prstGeom>
        </p:spPr>
      </p:pic>
      <p:sp>
        <p:nvSpPr>
          <p:cNvPr id="5" name="TextBox 4">
            <a:extLst>
              <a:ext uri="{FF2B5EF4-FFF2-40B4-BE49-F238E27FC236}">
                <a16:creationId xmlns:a16="http://schemas.microsoft.com/office/drawing/2014/main" id="{E78D7D7D-8D90-6EBA-5FD3-3AC6F3C6223A}"/>
              </a:ext>
            </a:extLst>
          </p:cNvPr>
          <p:cNvSpPr txBox="1"/>
          <p:nvPr/>
        </p:nvSpPr>
        <p:spPr>
          <a:xfrm>
            <a:off x="681487" y="1349445"/>
            <a:ext cx="4511615" cy="5866350"/>
          </a:xfrm>
          <a:prstGeom prst="rect">
            <a:avLst/>
          </a:prstGeom>
          <a:noFill/>
        </p:spPr>
        <p:txBody>
          <a:bodyPr wrap="square">
            <a:spAutoFit/>
          </a:bodyPr>
          <a:lstStyle/>
          <a:p>
            <a:pPr algn="l">
              <a:lnSpc>
                <a:spcPct val="150000"/>
              </a:lnSpc>
              <a:buNone/>
            </a:pPr>
            <a:r>
              <a:rPr lang="en-IN" b="0" i="0" dirty="0">
                <a:solidFill>
                  <a:srgbClr val="1F1F1F"/>
                </a:solidFill>
                <a:effectLst/>
                <a:latin typeface="Arial" panose="020B0604020202020204" pitchFamily="34" charset="0"/>
              </a:rPr>
              <a:t>AI healthcare chatbot</a:t>
            </a:r>
          </a:p>
          <a:p>
            <a:pPr algn="l">
              <a:lnSpc>
                <a:spcPct val="150000"/>
              </a:lnSpc>
              <a:buNone/>
            </a:pPr>
            <a:r>
              <a:rPr lang="en-IN" b="0" i="0" dirty="0">
                <a:solidFill>
                  <a:srgbClr val="1F1F1F"/>
                </a:solidFill>
                <a:effectLst/>
                <a:latin typeface="Arial" panose="020B0604020202020204" pitchFamily="34" charset="0"/>
              </a:rPr>
              <a:t>Credit card fraud detection system</a:t>
            </a:r>
          </a:p>
          <a:p>
            <a:pPr algn="l">
              <a:lnSpc>
                <a:spcPct val="150000"/>
              </a:lnSpc>
              <a:buNone/>
            </a:pPr>
            <a:r>
              <a:rPr lang="en-IN" b="0" i="0" dirty="0">
                <a:solidFill>
                  <a:srgbClr val="1F1F1F"/>
                </a:solidFill>
                <a:effectLst/>
                <a:latin typeface="Arial" panose="020B0604020202020204" pitchFamily="34" charset="0"/>
              </a:rPr>
              <a:t>Android grocery management app</a:t>
            </a:r>
          </a:p>
          <a:p>
            <a:pPr algn="l">
              <a:lnSpc>
                <a:spcPct val="150000"/>
              </a:lnSpc>
              <a:buNone/>
            </a:pPr>
            <a:r>
              <a:rPr lang="en-IN" b="0" i="0" dirty="0">
                <a:solidFill>
                  <a:srgbClr val="1F1F1F"/>
                </a:solidFill>
                <a:effectLst/>
                <a:latin typeface="Arial" panose="020B0604020202020204" pitchFamily="34" charset="0"/>
              </a:rPr>
              <a:t>Biometric attendance system</a:t>
            </a:r>
          </a:p>
          <a:p>
            <a:pPr algn="l">
              <a:lnSpc>
                <a:spcPct val="150000"/>
              </a:lnSpc>
              <a:buNone/>
            </a:pPr>
            <a:r>
              <a:rPr lang="en-IN" b="0" i="0" dirty="0">
                <a:solidFill>
                  <a:srgbClr val="1F1F1F"/>
                </a:solidFill>
                <a:effectLst/>
                <a:latin typeface="Arial" panose="020B0604020202020204" pitchFamily="34" charset="0"/>
              </a:rPr>
              <a:t>E-commerce platform</a:t>
            </a:r>
          </a:p>
          <a:p>
            <a:pPr algn="l">
              <a:lnSpc>
                <a:spcPct val="150000"/>
              </a:lnSpc>
              <a:buNone/>
            </a:pPr>
            <a:r>
              <a:rPr lang="en-IN" b="0" i="0" dirty="0">
                <a:solidFill>
                  <a:srgbClr val="1F1F1F"/>
                </a:solidFill>
                <a:effectLst/>
                <a:latin typeface="Arial" panose="020B0604020202020204" pitchFamily="34" charset="0"/>
              </a:rPr>
              <a:t>Machine learning based rainfall prediction</a:t>
            </a:r>
          </a:p>
          <a:p>
            <a:pPr algn="l">
              <a:lnSpc>
                <a:spcPct val="150000"/>
              </a:lnSpc>
              <a:buNone/>
            </a:pPr>
            <a:r>
              <a:rPr lang="en-IN" b="0" i="0" dirty="0">
                <a:solidFill>
                  <a:srgbClr val="1F1F1F"/>
                </a:solidFill>
                <a:effectLst/>
                <a:latin typeface="Arial" panose="020B0604020202020204" pitchFamily="34" charset="0"/>
              </a:rPr>
              <a:t>Machine learning projects</a:t>
            </a:r>
          </a:p>
          <a:p>
            <a:pPr algn="l">
              <a:lnSpc>
                <a:spcPct val="150000"/>
              </a:lnSpc>
              <a:buNone/>
            </a:pPr>
            <a:r>
              <a:rPr lang="en-IN" b="0" i="0" dirty="0">
                <a:solidFill>
                  <a:srgbClr val="1F1F1F"/>
                </a:solidFill>
                <a:effectLst/>
                <a:latin typeface="Arial" panose="020B0604020202020204" pitchFamily="34" charset="0"/>
              </a:rPr>
              <a:t>Sentiment analysis</a:t>
            </a:r>
          </a:p>
          <a:p>
            <a:pPr algn="l">
              <a:lnSpc>
                <a:spcPct val="150000"/>
              </a:lnSpc>
              <a:buNone/>
            </a:pPr>
            <a:r>
              <a:rPr lang="en-IN" b="0" i="0" dirty="0">
                <a:solidFill>
                  <a:srgbClr val="1F1F1F"/>
                </a:solidFill>
                <a:effectLst/>
                <a:latin typeface="Arial" panose="020B0604020202020204" pitchFamily="34" charset="0"/>
              </a:rPr>
              <a:t>Smart attendance management</a:t>
            </a:r>
          </a:p>
          <a:p>
            <a:pPr algn="l">
              <a:lnSpc>
                <a:spcPct val="150000"/>
              </a:lnSpc>
              <a:buNone/>
            </a:pPr>
            <a:r>
              <a:rPr lang="en-IN" b="0" i="0" dirty="0">
                <a:solidFill>
                  <a:srgbClr val="1F1F1F"/>
                </a:solidFill>
                <a:effectLst/>
                <a:latin typeface="Arial" panose="020B0604020202020204" pitchFamily="34" charset="0"/>
              </a:rPr>
              <a:t>Smart Parking</a:t>
            </a:r>
          </a:p>
          <a:p>
            <a:pPr algn="l">
              <a:lnSpc>
                <a:spcPct val="150000"/>
              </a:lnSpc>
              <a:buNone/>
            </a:pPr>
            <a:r>
              <a:rPr lang="en-IN" b="0" i="0" dirty="0">
                <a:solidFill>
                  <a:srgbClr val="1F1F1F"/>
                </a:solidFill>
                <a:effectLst/>
                <a:latin typeface="Arial" panose="020B0604020202020204" pitchFamily="34" charset="0"/>
              </a:rPr>
              <a:t>Blood bank management system</a:t>
            </a:r>
          </a:p>
          <a:p>
            <a:pPr algn="l">
              <a:lnSpc>
                <a:spcPct val="150000"/>
              </a:lnSpc>
              <a:buNone/>
            </a:pPr>
            <a:r>
              <a:rPr lang="en-IN" b="0" i="0" dirty="0">
                <a:solidFill>
                  <a:srgbClr val="1F1F1F"/>
                </a:solidFill>
                <a:effectLst/>
                <a:latin typeface="Arial" panose="020B0604020202020204" pitchFamily="34" charset="0"/>
              </a:rPr>
              <a:t>College Placement System using Python</a:t>
            </a:r>
          </a:p>
          <a:p>
            <a:pPr>
              <a:lnSpc>
                <a:spcPct val="150000"/>
              </a:lnSpc>
              <a:buNone/>
            </a:pPr>
            <a:br>
              <a:rPr lang="en-IN" dirty="0"/>
            </a:br>
            <a:endParaRPr lang="en-IN" dirty="0"/>
          </a:p>
        </p:txBody>
      </p:sp>
      <p:sp>
        <p:nvSpPr>
          <p:cNvPr id="8" name="TextBox 7">
            <a:extLst>
              <a:ext uri="{FF2B5EF4-FFF2-40B4-BE49-F238E27FC236}">
                <a16:creationId xmlns:a16="http://schemas.microsoft.com/office/drawing/2014/main" id="{3503D940-E656-21AF-1071-DC83F52908E0}"/>
              </a:ext>
            </a:extLst>
          </p:cNvPr>
          <p:cNvSpPr txBox="1"/>
          <p:nvPr/>
        </p:nvSpPr>
        <p:spPr>
          <a:xfrm>
            <a:off x="6055742" y="1289431"/>
            <a:ext cx="4511616" cy="5027017"/>
          </a:xfrm>
          <a:prstGeom prst="rect">
            <a:avLst/>
          </a:prstGeom>
          <a:noFill/>
        </p:spPr>
        <p:txBody>
          <a:bodyPr wrap="square">
            <a:spAutoFit/>
          </a:bodyPr>
          <a:lstStyle/>
          <a:p>
            <a:pPr algn="l">
              <a:lnSpc>
                <a:spcPct val="150000"/>
              </a:lnSpc>
              <a:buNone/>
            </a:pPr>
            <a:r>
              <a:rPr lang="en-IN" b="0" i="0" dirty="0">
                <a:solidFill>
                  <a:srgbClr val="1F1F1F"/>
                </a:solidFill>
                <a:effectLst/>
                <a:latin typeface="Arial" panose="020B0604020202020204" pitchFamily="34" charset="0"/>
              </a:rPr>
              <a:t>Content management system</a:t>
            </a:r>
          </a:p>
          <a:p>
            <a:pPr algn="l">
              <a:lnSpc>
                <a:spcPct val="150000"/>
              </a:lnSpc>
              <a:buNone/>
            </a:pPr>
            <a:r>
              <a:rPr lang="en-IN" b="0" i="0" dirty="0">
                <a:solidFill>
                  <a:srgbClr val="1F1F1F"/>
                </a:solidFill>
                <a:effectLst/>
                <a:latin typeface="Arial" panose="020B0604020202020204" pitchFamily="34" charset="0"/>
              </a:rPr>
              <a:t>Cybersecurity Framework</a:t>
            </a:r>
          </a:p>
          <a:p>
            <a:pPr algn="l">
              <a:lnSpc>
                <a:spcPct val="150000"/>
              </a:lnSpc>
              <a:buNone/>
            </a:pPr>
            <a:r>
              <a:rPr lang="en-IN" b="0" i="0" dirty="0">
                <a:solidFill>
                  <a:srgbClr val="1F1F1F"/>
                </a:solidFill>
                <a:effectLst/>
                <a:latin typeface="Arial" panose="020B0604020202020204" pitchFamily="34" charset="0"/>
              </a:rPr>
              <a:t>Developing chatbots</a:t>
            </a:r>
          </a:p>
          <a:p>
            <a:pPr algn="l">
              <a:lnSpc>
                <a:spcPct val="150000"/>
              </a:lnSpc>
              <a:buNone/>
            </a:pPr>
            <a:r>
              <a:rPr lang="en-IN" b="0" i="0" dirty="0">
                <a:solidFill>
                  <a:srgbClr val="1F1F1F"/>
                </a:solidFill>
                <a:effectLst/>
                <a:latin typeface="Arial" panose="020B0604020202020204" pitchFamily="34" charset="0"/>
              </a:rPr>
              <a:t>Digital Scrabble word dictionary game</a:t>
            </a:r>
          </a:p>
          <a:p>
            <a:pPr algn="l">
              <a:lnSpc>
                <a:spcPct val="150000"/>
              </a:lnSpc>
              <a:buNone/>
            </a:pPr>
            <a:r>
              <a:rPr lang="en-IN" b="0" i="0" dirty="0">
                <a:solidFill>
                  <a:srgbClr val="1F1F1F"/>
                </a:solidFill>
                <a:effectLst/>
                <a:latin typeface="Arial" panose="020B0604020202020204" pitchFamily="34" charset="0"/>
              </a:rPr>
              <a:t>Employee management system</a:t>
            </a:r>
          </a:p>
          <a:p>
            <a:pPr algn="l">
              <a:lnSpc>
                <a:spcPct val="150000"/>
              </a:lnSpc>
              <a:buNone/>
            </a:pPr>
            <a:r>
              <a:rPr lang="en-IN" b="0" i="0" dirty="0">
                <a:solidFill>
                  <a:srgbClr val="1F1F1F"/>
                </a:solidFill>
                <a:effectLst/>
                <a:latin typeface="Arial" panose="020B0604020202020204" pitchFamily="34" charset="0"/>
              </a:rPr>
              <a:t>Fraud detection using machine learning</a:t>
            </a:r>
          </a:p>
          <a:p>
            <a:pPr algn="l">
              <a:lnSpc>
                <a:spcPct val="150000"/>
              </a:lnSpc>
              <a:buNone/>
            </a:pPr>
            <a:r>
              <a:rPr lang="en-IN" b="0" i="0" dirty="0">
                <a:solidFill>
                  <a:srgbClr val="1F1F1F"/>
                </a:solidFill>
                <a:effectLst/>
                <a:latin typeface="Arial" panose="020B0604020202020204" pitchFamily="34" charset="0"/>
              </a:rPr>
              <a:t>Handwritten digit recognition using neural network</a:t>
            </a:r>
          </a:p>
          <a:p>
            <a:pPr algn="l">
              <a:lnSpc>
                <a:spcPct val="150000"/>
              </a:lnSpc>
              <a:buNone/>
            </a:pPr>
            <a:r>
              <a:rPr lang="en-IN" b="0" i="0" dirty="0">
                <a:solidFill>
                  <a:srgbClr val="1F1F1F"/>
                </a:solidFill>
                <a:effectLst/>
                <a:latin typeface="Arial" panose="020B0604020202020204" pitchFamily="34" charset="0"/>
              </a:rPr>
              <a:t>House price prediction</a:t>
            </a:r>
          </a:p>
          <a:p>
            <a:pPr algn="l">
              <a:lnSpc>
                <a:spcPct val="150000"/>
              </a:lnSpc>
              <a:buNone/>
            </a:pPr>
            <a:r>
              <a:rPr lang="en-IN" b="0" i="0" dirty="0">
                <a:solidFill>
                  <a:srgbClr val="1F1F1F"/>
                </a:solidFill>
                <a:effectLst/>
                <a:latin typeface="Arial" panose="020B0604020202020204" pitchFamily="34" charset="0"/>
              </a:rPr>
              <a:t>Image recognition</a:t>
            </a:r>
          </a:p>
          <a:p>
            <a:pPr algn="l">
              <a:lnSpc>
                <a:spcPct val="150000"/>
              </a:lnSpc>
              <a:buNone/>
            </a:pPr>
            <a:r>
              <a:rPr lang="en-IN" b="0" i="0" dirty="0">
                <a:solidFill>
                  <a:srgbClr val="1F1F1F"/>
                </a:solidFill>
                <a:effectLst/>
                <a:latin typeface="Arial" panose="020B0604020202020204" pitchFamily="34" charset="0"/>
              </a:rPr>
              <a:t>Inventory management system</a:t>
            </a:r>
          </a:p>
          <a:p>
            <a:pPr algn="l">
              <a:lnSpc>
                <a:spcPct val="150000"/>
              </a:lnSpc>
              <a:buNone/>
            </a:pPr>
            <a:r>
              <a:rPr lang="en-IN" b="0" i="0" dirty="0">
                <a:solidFill>
                  <a:srgbClr val="1F1F1F"/>
                </a:solidFill>
                <a:effectLst/>
                <a:latin typeface="Arial" panose="020B0604020202020204" pitchFamily="34" charset="0"/>
              </a:rPr>
              <a:t>Internet of Things</a:t>
            </a:r>
          </a:p>
        </p:txBody>
      </p:sp>
    </p:spTree>
    <p:extLst>
      <p:ext uri="{BB962C8B-B14F-4D97-AF65-F5344CB8AC3E}">
        <p14:creationId xmlns:p14="http://schemas.microsoft.com/office/powerpoint/2010/main" val="3538849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DCB655-03CA-7555-5B1A-F632799C13BB}"/>
              </a:ext>
            </a:extLst>
          </p:cNvPr>
          <p:cNvSpPr txBox="1"/>
          <p:nvPr/>
        </p:nvSpPr>
        <p:spPr>
          <a:xfrm>
            <a:off x="4272685" y="497166"/>
            <a:ext cx="6182530"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a:t>
            </a:r>
            <a:r>
              <a:rPr lang="en-US" sz="3200" dirty="0">
                <a:latin typeface="Arial" panose="020B0604020202020204" pitchFamily="34" charset="0"/>
                <a:cs typeface="Arial" panose="020B0604020202020204" pitchFamily="34" charset="0"/>
              </a:rPr>
              <a:t> </a:t>
            </a:r>
            <a:r>
              <a:rPr lang="en-US" sz="3200" b="1" dirty="0">
                <a:solidFill>
                  <a:srgbClr val="00336E"/>
                </a:solidFill>
                <a:latin typeface="Arial" panose="020B0604020202020204" pitchFamily="34" charset="0"/>
                <a:cs typeface="Arial" panose="020B0604020202020204" pitchFamily="34" charset="0"/>
              </a:rPr>
              <a:t>Report</a:t>
            </a:r>
            <a:endParaRPr lang="en-IN" dirty="0"/>
          </a:p>
        </p:txBody>
      </p:sp>
      <p:pic>
        <p:nvPicPr>
          <p:cNvPr id="3" name="Picture 2" descr="Logo&#10;&#10;Description automatically generated">
            <a:extLst>
              <a:ext uri="{FF2B5EF4-FFF2-40B4-BE49-F238E27FC236}">
                <a16:creationId xmlns:a16="http://schemas.microsoft.com/office/drawing/2014/main" id="{1B210FAD-05C6-D183-64BA-95CEF8EC7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 y="-989874"/>
            <a:ext cx="5924760" cy="3356753"/>
          </a:xfrm>
          <a:prstGeom prst="rect">
            <a:avLst/>
          </a:prstGeom>
        </p:spPr>
      </p:pic>
      <p:sp>
        <p:nvSpPr>
          <p:cNvPr id="4" name="TextBox 3">
            <a:extLst>
              <a:ext uri="{FF2B5EF4-FFF2-40B4-BE49-F238E27FC236}">
                <a16:creationId xmlns:a16="http://schemas.microsoft.com/office/drawing/2014/main" id="{05B745BE-7981-04DF-1167-34E3AF28F6F3}"/>
              </a:ext>
            </a:extLst>
          </p:cNvPr>
          <p:cNvSpPr txBox="1"/>
          <p:nvPr/>
        </p:nvSpPr>
        <p:spPr>
          <a:xfrm>
            <a:off x="1628969" y="1804996"/>
            <a:ext cx="8934062" cy="4555093"/>
          </a:xfrm>
          <a:prstGeom prst="rect">
            <a:avLst/>
          </a:prstGeom>
          <a:noFill/>
        </p:spPr>
        <p:txBody>
          <a:bodyPr wrap="square" rtlCol="0">
            <a:spAutoFit/>
          </a:bodyPr>
          <a:lstStyle/>
          <a:p>
            <a:r>
              <a:rPr lang="en-US" sz="2400" b="1" u="sng" dirty="0">
                <a:solidFill>
                  <a:schemeClr val="accent1">
                    <a:lumMod val="75000"/>
                  </a:schemeClr>
                </a:solidFill>
                <a:latin typeface="Poppins" panose="00000500000000000000" pitchFamily="2" charset="0"/>
                <a:cs typeface="Poppins" panose="00000500000000000000" pitchFamily="2" charset="0"/>
              </a:rPr>
              <a:t>CHAPTER 1 (Introduction, Background and History)</a:t>
            </a:r>
          </a:p>
          <a:p>
            <a:endParaRPr lang="en-US" sz="2400" b="1" u="sng" dirty="0">
              <a:solidFill>
                <a:schemeClr val="accent1">
                  <a:lumMod val="75000"/>
                </a:schemeClr>
              </a:solidFill>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800" dirty="0"/>
              <a:t>Introduction</a:t>
            </a:r>
          </a:p>
          <a:p>
            <a:pPr marL="285750" indent="-285750">
              <a:buFont typeface="Arial" panose="020B0604020202020204" pitchFamily="34" charset="0"/>
              <a:buChar char="•"/>
            </a:pPr>
            <a:r>
              <a:rPr lang="en-US" sz="2800" dirty="0"/>
              <a:t>Brief History of the Company/Organisation/Industry </a:t>
            </a:r>
          </a:p>
          <a:p>
            <a:pPr marL="1200150" lvl="2" indent="-285750">
              <a:buFont typeface="Arial" panose="020B0604020202020204" pitchFamily="34" charset="0"/>
              <a:buChar char="•"/>
            </a:pPr>
            <a:r>
              <a:rPr lang="en-US" sz="2800" dirty="0"/>
              <a:t>– Vision, Mission &amp; Strategy</a:t>
            </a:r>
          </a:p>
          <a:p>
            <a:pPr marL="1200150" lvl="2" indent="-285750">
              <a:buFont typeface="Arial" panose="020B0604020202020204" pitchFamily="34" charset="0"/>
              <a:buChar char="•"/>
            </a:pPr>
            <a:r>
              <a:rPr lang="en-US" sz="2800" dirty="0"/>
              <a:t>--</a:t>
            </a:r>
            <a:r>
              <a:rPr lang="en-US" sz="2800" dirty="0" err="1"/>
              <a:t>Organisation</a:t>
            </a:r>
            <a:r>
              <a:rPr lang="en-US" sz="2800" dirty="0"/>
              <a:t> Chart</a:t>
            </a:r>
          </a:p>
          <a:p>
            <a:pPr marL="285750" indent="-285750">
              <a:buFont typeface="Arial" panose="020B0604020202020204" pitchFamily="34" charset="0"/>
              <a:buChar char="•"/>
            </a:pPr>
            <a:r>
              <a:rPr lang="en-US" sz="2800" dirty="0"/>
              <a:t>Project Objectives</a:t>
            </a:r>
          </a:p>
          <a:p>
            <a:pPr marL="285750" indent="-285750">
              <a:buFont typeface="Arial" panose="020B0604020202020204" pitchFamily="34" charset="0"/>
              <a:buChar char="•"/>
            </a:pPr>
            <a:r>
              <a:rPr lang="en-US" sz="2800" dirty="0"/>
              <a:t>Significance of the study</a:t>
            </a:r>
          </a:p>
          <a:p>
            <a:pPr marL="285750" indent="-285750">
              <a:buFont typeface="Arial" panose="020B0604020202020204" pitchFamily="34" charset="0"/>
              <a:buChar char="•"/>
            </a:pPr>
            <a:r>
              <a:rPr lang="en-US" sz="2800" dirty="0"/>
              <a:t>Scope of the study</a:t>
            </a:r>
          </a:p>
          <a:p>
            <a:pPr marL="285750" indent="-285750">
              <a:buFont typeface="Arial" panose="020B0604020202020204" pitchFamily="34" charset="0"/>
              <a:buChar char="•"/>
            </a:pPr>
            <a:r>
              <a:rPr lang="en-US" sz="2800" dirty="0"/>
              <a:t>Limitations of the study</a:t>
            </a:r>
          </a:p>
          <a:p>
            <a:endParaRPr lang="en-IN" dirty="0"/>
          </a:p>
        </p:txBody>
      </p:sp>
    </p:spTree>
    <p:extLst>
      <p:ext uri="{BB962C8B-B14F-4D97-AF65-F5344CB8AC3E}">
        <p14:creationId xmlns:p14="http://schemas.microsoft.com/office/powerpoint/2010/main" val="35995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1B210FAD-05C6-D183-64BA-95CEF8EC7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 y="-989874"/>
            <a:ext cx="5924760" cy="3356753"/>
          </a:xfrm>
          <a:prstGeom prst="rect">
            <a:avLst/>
          </a:prstGeom>
        </p:spPr>
      </p:pic>
      <p:sp>
        <p:nvSpPr>
          <p:cNvPr id="4" name="TextBox 3">
            <a:extLst>
              <a:ext uri="{FF2B5EF4-FFF2-40B4-BE49-F238E27FC236}">
                <a16:creationId xmlns:a16="http://schemas.microsoft.com/office/drawing/2014/main" id="{05B745BE-7981-04DF-1167-34E3AF28F6F3}"/>
              </a:ext>
            </a:extLst>
          </p:cNvPr>
          <p:cNvSpPr txBox="1"/>
          <p:nvPr/>
        </p:nvSpPr>
        <p:spPr>
          <a:xfrm>
            <a:off x="2666419" y="2366877"/>
            <a:ext cx="7035520" cy="3600986"/>
          </a:xfrm>
          <a:prstGeom prst="rect">
            <a:avLst/>
          </a:prstGeom>
          <a:noFill/>
        </p:spPr>
        <p:txBody>
          <a:bodyPr wrap="square" rtlCol="0">
            <a:spAutoFit/>
          </a:bodyPr>
          <a:lstStyle/>
          <a:p>
            <a:r>
              <a:rPr lang="en-US" sz="3200" b="1" u="sng" dirty="0">
                <a:solidFill>
                  <a:schemeClr val="accent1">
                    <a:lumMod val="75000"/>
                  </a:schemeClr>
                </a:solidFill>
                <a:latin typeface="Poppins" panose="00000500000000000000" pitchFamily="2" charset="0"/>
                <a:cs typeface="Poppins" panose="00000500000000000000" pitchFamily="2" charset="0"/>
              </a:rPr>
              <a:t>CHAPTER 2 (Review of Literature)</a:t>
            </a:r>
          </a:p>
          <a:p>
            <a:endParaRPr lang="en-US" sz="28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800" dirty="0">
                <a:latin typeface="Poppins" panose="00000500000000000000" pitchFamily="2" charset="0"/>
                <a:cs typeface="Poppins" panose="00000500000000000000" pitchFamily="2" charset="0"/>
              </a:rPr>
              <a:t>Literature Review</a:t>
            </a:r>
          </a:p>
          <a:p>
            <a:pPr marL="285750" indent="-285750">
              <a:buFont typeface="Arial" panose="020B0604020202020204" pitchFamily="34" charset="0"/>
              <a:buChar char="•"/>
            </a:pPr>
            <a:r>
              <a:rPr lang="en-US" sz="2800" dirty="0">
                <a:latin typeface="Poppins" panose="00000500000000000000" pitchFamily="2" charset="0"/>
                <a:cs typeface="Poppins" panose="00000500000000000000" pitchFamily="2" charset="0"/>
              </a:rPr>
              <a:t>Definition of Terms (Glossary)</a:t>
            </a:r>
          </a:p>
          <a:p>
            <a:pPr marL="285750" indent="-285750">
              <a:buFont typeface="Arial" panose="020B0604020202020204" pitchFamily="34" charset="0"/>
              <a:buChar char="•"/>
            </a:pPr>
            <a:r>
              <a:rPr lang="en-US" sz="2800" dirty="0">
                <a:latin typeface="Poppins" panose="00000500000000000000" pitchFamily="2" charset="0"/>
                <a:cs typeface="Poppins" panose="00000500000000000000" pitchFamily="2" charset="0"/>
              </a:rPr>
              <a:t>Research Gap</a:t>
            </a:r>
          </a:p>
          <a:p>
            <a:pPr marL="285750" indent="-285750">
              <a:buFont typeface="Arial" panose="020B0604020202020204" pitchFamily="34" charset="0"/>
              <a:buChar char="•"/>
            </a:pPr>
            <a:r>
              <a:rPr lang="en-US" sz="2800" dirty="0">
                <a:latin typeface="Poppins" panose="00000500000000000000" pitchFamily="2" charset="0"/>
                <a:cs typeface="Poppins" panose="00000500000000000000" pitchFamily="2" charset="0"/>
              </a:rPr>
              <a:t>Conceptual Framework</a:t>
            </a:r>
          </a:p>
          <a:p>
            <a:pPr marL="285750" indent="-285750">
              <a:buFont typeface="Arial" panose="020B0604020202020204" pitchFamily="34" charset="0"/>
              <a:buChar char="•"/>
            </a:pPr>
            <a:r>
              <a:rPr lang="en-US" sz="2800" dirty="0">
                <a:latin typeface="Poppins" panose="00000500000000000000" pitchFamily="2" charset="0"/>
                <a:cs typeface="Poppins" panose="00000500000000000000" pitchFamily="2" charset="0"/>
              </a:rPr>
              <a:t>Hypothesis of the study</a:t>
            </a:r>
          </a:p>
          <a:p>
            <a:endParaRPr lang="en-IN" sz="2800" dirty="0">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0446EED0-18B3-1227-1772-C64643AF5E49}"/>
              </a:ext>
            </a:extLst>
          </p:cNvPr>
          <p:cNvSpPr txBox="1"/>
          <p:nvPr/>
        </p:nvSpPr>
        <p:spPr>
          <a:xfrm>
            <a:off x="4540103" y="592057"/>
            <a:ext cx="6579346"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a:t>
            </a:r>
            <a:r>
              <a:rPr lang="en-US" sz="3200" dirty="0">
                <a:latin typeface="Arial" panose="020B0604020202020204" pitchFamily="34" charset="0"/>
                <a:cs typeface="Arial" panose="020B0604020202020204" pitchFamily="34" charset="0"/>
              </a:rPr>
              <a:t> </a:t>
            </a:r>
            <a:r>
              <a:rPr lang="en-US" sz="3200" b="1" dirty="0">
                <a:solidFill>
                  <a:srgbClr val="00336E"/>
                </a:solidFill>
                <a:latin typeface="Arial" panose="020B0604020202020204" pitchFamily="34" charset="0"/>
                <a:cs typeface="Arial" panose="020B0604020202020204" pitchFamily="34" charset="0"/>
              </a:rPr>
              <a:t>Report</a:t>
            </a:r>
            <a:endParaRPr lang="en-IN" sz="3200" dirty="0"/>
          </a:p>
        </p:txBody>
      </p:sp>
    </p:spTree>
    <p:extLst>
      <p:ext uri="{BB962C8B-B14F-4D97-AF65-F5344CB8AC3E}">
        <p14:creationId xmlns:p14="http://schemas.microsoft.com/office/powerpoint/2010/main" val="222327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1B210FAD-05C6-D183-64BA-95CEF8EC7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 y="-989874"/>
            <a:ext cx="5924760" cy="3356753"/>
          </a:xfrm>
          <a:prstGeom prst="rect">
            <a:avLst/>
          </a:prstGeom>
        </p:spPr>
      </p:pic>
      <p:sp>
        <p:nvSpPr>
          <p:cNvPr id="4" name="TextBox 3">
            <a:extLst>
              <a:ext uri="{FF2B5EF4-FFF2-40B4-BE49-F238E27FC236}">
                <a16:creationId xmlns:a16="http://schemas.microsoft.com/office/drawing/2014/main" id="{05B745BE-7981-04DF-1167-34E3AF28F6F3}"/>
              </a:ext>
            </a:extLst>
          </p:cNvPr>
          <p:cNvSpPr txBox="1"/>
          <p:nvPr/>
        </p:nvSpPr>
        <p:spPr>
          <a:xfrm>
            <a:off x="1956236" y="1352210"/>
            <a:ext cx="7732295" cy="5232202"/>
          </a:xfrm>
          <a:prstGeom prst="rect">
            <a:avLst/>
          </a:prstGeom>
          <a:noFill/>
        </p:spPr>
        <p:txBody>
          <a:bodyPr wrap="square" rtlCol="0">
            <a:spAutoFit/>
          </a:bodyPr>
          <a:lstStyle/>
          <a:p>
            <a:endParaRPr lang="en-US" sz="3200" b="1" u="sng" dirty="0">
              <a:solidFill>
                <a:schemeClr val="accent1">
                  <a:lumMod val="75000"/>
                </a:schemeClr>
              </a:solidFill>
              <a:latin typeface="Poppins" panose="00000500000000000000" pitchFamily="2" charset="0"/>
              <a:cs typeface="Poppins" panose="00000500000000000000" pitchFamily="2" charset="0"/>
            </a:endParaRPr>
          </a:p>
          <a:p>
            <a:r>
              <a:rPr lang="en-US" sz="3200" b="1" u="sng" dirty="0">
                <a:solidFill>
                  <a:schemeClr val="accent1">
                    <a:lumMod val="75000"/>
                  </a:schemeClr>
                </a:solidFill>
                <a:latin typeface="Poppins" panose="00000500000000000000" pitchFamily="2" charset="0"/>
                <a:cs typeface="Poppins" panose="00000500000000000000" pitchFamily="2" charset="0"/>
              </a:rPr>
              <a:t>CHAPTER 3 (Research Methodology)</a:t>
            </a:r>
          </a:p>
          <a:p>
            <a:pPr marL="285750" indent="-285750">
              <a:buFont typeface="Arial" panose="020B0604020202020204" pitchFamily="34" charset="0"/>
              <a:buChar char="•"/>
            </a:pPr>
            <a:endParaRPr lang="en-US" dirty="0"/>
          </a:p>
          <a:p>
            <a:pPr marL="620713" indent="-357188">
              <a:buFont typeface="Arial" panose="020B0604020202020204" pitchFamily="34" charset="0"/>
              <a:buChar char="•"/>
            </a:pPr>
            <a:r>
              <a:rPr lang="en-US" sz="2800" dirty="0"/>
              <a:t>Research Design</a:t>
            </a:r>
          </a:p>
          <a:p>
            <a:pPr marL="620713" indent="-357188"/>
            <a:r>
              <a:rPr lang="en-US" sz="2800" dirty="0"/>
              <a:t>	– Population and Sample Size</a:t>
            </a:r>
          </a:p>
          <a:p>
            <a:pPr marL="620713" indent="-357188"/>
            <a:r>
              <a:rPr lang="en-US" sz="2800" dirty="0"/>
              <a:t>	– Sample Size Determination</a:t>
            </a:r>
          </a:p>
          <a:p>
            <a:pPr marL="620713" indent="-357188">
              <a:buFont typeface="Arial" panose="020B0604020202020204" pitchFamily="34" charset="0"/>
              <a:buChar char="•"/>
            </a:pPr>
            <a:r>
              <a:rPr lang="en-US" sz="2800" dirty="0"/>
              <a:t>Tools used in Research</a:t>
            </a:r>
          </a:p>
          <a:p>
            <a:pPr marL="620713" indent="-357188">
              <a:buFont typeface="Arial" panose="020B0604020202020204" pitchFamily="34" charset="0"/>
              <a:buChar char="•"/>
            </a:pPr>
            <a:r>
              <a:rPr lang="en-US" sz="2800" dirty="0"/>
              <a:t>Data Collection</a:t>
            </a:r>
          </a:p>
          <a:p>
            <a:pPr marL="620713" indent="-357188"/>
            <a:r>
              <a:rPr lang="en-US" sz="2800" dirty="0"/>
              <a:t>	– Primary Data</a:t>
            </a:r>
          </a:p>
          <a:p>
            <a:pPr marL="620713" indent="-357188"/>
            <a:r>
              <a:rPr lang="en-US" sz="2800" dirty="0"/>
              <a:t>	– Secondary Data</a:t>
            </a:r>
          </a:p>
          <a:p>
            <a:pPr marL="620713" indent="-357188">
              <a:buFont typeface="Arial" panose="020B0604020202020204" pitchFamily="34" charset="0"/>
              <a:buChar char="•"/>
            </a:pPr>
            <a:r>
              <a:rPr lang="en-US" sz="2800" dirty="0"/>
              <a:t>Statistical treatment of Data </a:t>
            </a:r>
          </a:p>
          <a:p>
            <a:pPr marL="620713" indent="-357188">
              <a:buFont typeface="Arial" panose="020B0604020202020204" pitchFamily="34" charset="0"/>
              <a:buChar char="•"/>
            </a:pPr>
            <a:r>
              <a:rPr lang="en-US" sz="2800" dirty="0"/>
              <a:t>Data Analysis</a:t>
            </a:r>
          </a:p>
        </p:txBody>
      </p:sp>
      <p:sp>
        <p:nvSpPr>
          <p:cNvPr id="5" name="TextBox 4">
            <a:extLst>
              <a:ext uri="{FF2B5EF4-FFF2-40B4-BE49-F238E27FC236}">
                <a16:creationId xmlns:a16="http://schemas.microsoft.com/office/drawing/2014/main" id="{23964E21-BC03-53FD-191B-225051E63046}"/>
              </a:ext>
            </a:extLst>
          </p:cNvPr>
          <p:cNvSpPr txBox="1"/>
          <p:nvPr/>
        </p:nvSpPr>
        <p:spPr>
          <a:xfrm>
            <a:off x="4540102" y="592057"/>
            <a:ext cx="6096268"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 </a:t>
            </a:r>
            <a:r>
              <a:rPr lang="en-US" sz="3200" b="1" dirty="0">
                <a:solidFill>
                  <a:srgbClr val="00336E"/>
                </a:solidFill>
                <a:latin typeface="Arial" panose="020B0604020202020204" pitchFamily="34" charset="0"/>
                <a:cs typeface="Arial" panose="020B0604020202020204" pitchFamily="34" charset="0"/>
              </a:rPr>
              <a:t>Report</a:t>
            </a:r>
            <a:endParaRPr lang="en-IN" sz="3200" dirty="0"/>
          </a:p>
        </p:txBody>
      </p:sp>
    </p:spTree>
    <p:extLst>
      <p:ext uri="{BB962C8B-B14F-4D97-AF65-F5344CB8AC3E}">
        <p14:creationId xmlns:p14="http://schemas.microsoft.com/office/powerpoint/2010/main" val="368664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1B210FAD-05C6-D183-64BA-95CEF8EC7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94" y="-1017306"/>
            <a:ext cx="5924760" cy="3356753"/>
          </a:xfrm>
          <a:prstGeom prst="rect">
            <a:avLst/>
          </a:prstGeom>
        </p:spPr>
      </p:pic>
      <p:sp>
        <p:nvSpPr>
          <p:cNvPr id="4" name="TextBox 3">
            <a:extLst>
              <a:ext uri="{FF2B5EF4-FFF2-40B4-BE49-F238E27FC236}">
                <a16:creationId xmlns:a16="http://schemas.microsoft.com/office/drawing/2014/main" id="{05B745BE-7981-04DF-1167-34E3AF28F6F3}"/>
              </a:ext>
            </a:extLst>
          </p:cNvPr>
          <p:cNvSpPr txBox="1"/>
          <p:nvPr/>
        </p:nvSpPr>
        <p:spPr>
          <a:xfrm>
            <a:off x="154983" y="1920895"/>
            <a:ext cx="12037017" cy="3877985"/>
          </a:xfrm>
          <a:prstGeom prst="rect">
            <a:avLst/>
          </a:prstGeom>
          <a:noFill/>
        </p:spPr>
        <p:txBody>
          <a:bodyPr wrap="square" rtlCol="0">
            <a:spAutoFit/>
          </a:bodyPr>
          <a:lstStyle/>
          <a:p>
            <a:r>
              <a:rPr lang="en-US" sz="3200" b="1" u="sng" dirty="0">
                <a:solidFill>
                  <a:schemeClr val="accent1">
                    <a:lumMod val="75000"/>
                  </a:schemeClr>
                </a:solidFill>
                <a:latin typeface="Poppins" panose="00000500000000000000" pitchFamily="2" charset="0"/>
                <a:cs typeface="Poppins" panose="00000500000000000000" pitchFamily="2" charset="0"/>
              </a:rPr>
              <a:t>CHAPTER 4 (Findings, Conclusions &amp; Recommendations)</a:t>
            </a:r>
          </a:p>
          <a:p>
            <a:pPr marL="285750" indent="-285750">
              <a:buFont typeface="Arial" panose="020B0604020202020204" pitchFamily="34" charset="0"/>
              <a:buChar char="•"/>
            </a:pPr>
            <a:endParaRPr lang="en-US" dirty="0"/>
          </a:p>
          <a:p>
            <a:pPr marL="357188" indent="-357188">
              <a:buFont typeface="Arial" panose="020B0604020202020204" pitchFamily="34" charset="0"/>
              <a:buChar char="•"/>
            </a:pPr>
            <a:r>
              <a:rPr lang="en-US" sz="2800" dirty="0"/>
              <a:t>Findings</a:t>
            </a:r>
          </a:p>
          <a:p>
            <a:pPr marL="357188" indent="-357188">
              <a:buFont typeface="Arial" panose="020B0604020202020204" pitchFamily="34" charset="0"/>
              <a:buChar char="•"/>
            </a:pPr>
            <a:r>
              <a:rPr lang="en-US" sz="2800" dirty="0"/>
              <a:t>Recommendations</a:t>
            </a:r>
          </a:p>
          <a:p>
            <a:pPr marL="357188" indent="-357188">
              <a:buFont typeface="Arial" panose="020B0604020202020204" pitchFamily="34" charset="0"/>
              <a:buChar char="•"/>
            </a:pPr>
            <a:r>
              <a:rPr lang="en-US" sz="2800" dirty="0"/>
              <a:t>Conclusions</a:t>
            </a:r>
          </a:p>
          <a:p>
            <a:pPr marL="357188" indent="-357188">
              <a:buFont typeface="Arial" panose="020B0604020202020204" pitchFamily="34" charset="0"/>
              <a:buChar char="•"/>
            </a:pPr>
            <a:r>
              <a:rPr lang="en-US" sz="2800" dirty="0"/>
              <a:t>Bibliography</a:t>
            </a:r>
          </a:p>
          <a:p>
            <a:r>
              <a:rPr lang="en-US" sz="2800" dirty="0"/>
              <a:t>	- References</a:t>
            </a:r>
          </a:p>
          <a:p>
            <a:r>
              <a:rPr lang="en-US" sz="2800" dirty="0"/>
              <a:t>	- Books</a:t>
            </a:r>
          </a:p>
          <a:p>
            <a:r>
              <a:rPr lang="en-US" sz="2800" dirty="0"/>
              <a:t>	- Websites</a:t>
            </a:r>
          </a:p>
        </p:txBody>
      </p:sp>
      <p:sp>
        <p:nvSpPr>
          <p:cNvPr id="5" name="TextBox 4">
            <a:extLst>
              <a:ext uri="{FF2B5EF4-FFF2-40B4-BE49-F238E27FC236}">
                <a16:creationId xmlns:a16="http://schemas.microsoft.com/office/drawing/2014/main" id="{F4D6A4F9-B1F1-3930-169D-F4EC846D410D}"/>
              </a:ext>
            </a:extLst>
          </p:cNvPr>
          <p:cNvSpPr txBox="1"/>
          <p:nvPr/>
        </p:nvSpPr>
        <p:spPr>
          <a:xfrm>
            <a:off x="4540102" y="592057"/>
            <a:ext cx="7321219" cy="1077218"/>
          </a:xfrm>
          <a:prstGeom prst="rect">
            <a:avLst/>
          </a:prstGeom>
          <a:noFill/>
        </p:spPr>
        <p:txBody>
          <a:bodyPr wrap="square" rtlCol="0">
            <a:spAutoFit/>
          </a:bodyPr>
          <a:lstStyle/>
          <a:p>
            <a:endParaRPr lang="en-US" sz="3200" b="1" dirty="0">
              <a:solidFill>
                <a:srgbClr val="00336E"/>
              </a:solidFill>
              <a:latin typeface="Arial" panose="020B0604020202020204" pitchFamily="34" charset="0"/>
              <a:cs typeface="Arial" panose="020B0604020202020204" pitchFamily="34" charset="0"/>
            </a:endParaRPr>
          </a:p>
          <a:p>
            <a:r>
              <a:rPr lang="en-US" sz="3200" b="1" dirty="0">
                <a:latin typeface="Arial" panose="020B0604020202020204" pitchFamily="34" charset="0"/>
                <a:cs typeface="Arial" panose="020B0604020202020204" pitchFamily="34" charset="0"/>
              </a:rPr>
              <a:t>Internship-2 </a:t>
            </a:r>
            <a:r>
              <a:rPr lang="en-US" sz="3200" b="1" dirty="0">
                <a:solidFill>
                  <a:srgbClr val="00336E"/>
                </a:solidFill>
                <a:latin typeface="Arial" panose="020B0604020202020204" pitchFamily="34" charset="0"/>
                <a:cs typeface="Arial" panose="020B0604020202020204" pitchFamily="34" charset="0"/>
              </a:rPr>
              <a:t>Report</a:t>
            </a:r>
            <a:endParaRPr lang="en-IN" sz="3200" dirty="0"/>
          </a:p>
        </p:txBody>
      </p:sp>
    </p:spTree>
    <p:extLst>
      <p:ext uri="{BB962C8B-B14F-4D97-AF65-F5344CB8AC3E}">
        <p14:creationId xmlns:p14="http://schemas.microsoft.com/office/powerpoint/2010/main" val="14361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Basis">
  <a:themeElements>
    <a:clrScheme name="Custom 1">
      <a:dk1>
        <a:srgbClr val="000000"/>
      </a:dk1>
      <a:lt1>
        <a:sysClr val="window" lastClr="FFFFFF"/>
      </a:lt1>
      <a:dk2>
        <a:srgbClr val="FFFFFF"/>
      </a:dk2>
      <a:lt2>
        <a:srgbClr val="EBEBEB"/>
      </a:lt2>
      <a:accent1>
        <a:srgbClr val="A51C24"/>
      </a:accent1>
      <a:accent2>
        <a:srgbClr val="00336E"/>
      </a:accent2>
      <a:accent3>
        <a:srgbClr val="FFFFFF"/>
      </a:accent3>
      <a:accent4>
        <a:srgbClr val="FFFFFF"/>
      </a:accent4>
      <a:accent5>
        <a:srgbClr val="FFFFFF"/>
      </a:accent5>
      <a:accent6>
        <a:srgbClr val="FFFFFF"/>
      </a:accent6>
      <a:hlink>
        <a:srgbClr val="A51C24"/>
      </a:hlink>
      <a:folHlink>
        <a:srgbClr val="A51C24"/>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docProps/app.xml><?xml version="1.0" encoding="utf-8"?>
<Properties xmlns="http://schemas.openxmlformats.org/officeDocument/2006/extended-properties" xmlns:vt="http://schemas.openxmlformats.org/officeDocument/2006/docPropsVTypes">
  <Template>Basis</Template>
  <TotalTime>1885</TotalTime>
  <Words>579</Words>
  <Application>Microsoft Office PowerPoint</Application>
  <PresentationFormat>Widescreen</PresentationFormat>
  <Paragraphs>118</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Amasis MT Pro Medium</vt:lpstr>
      <vt:lpstr>Arial</vt:lpstr>
      <vt:lpstr>Calibri</vt:lpstr>
      <vt:lpstr>Corbel</vt:lpstr>
      <vt:lpstr>Google Sans</vt:lpstr>
      <vt:lpstr>Poppins</vt:lpstr>
      <vt:lpstr>Basis</vt:lpstr>
      <vt:lpstr>Internship-2 V SEM BCA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Rachabathula Ranee Bhagyasri</dc:creator>
  <cp:lastModifiedBy>P Sri Latha</cp:lastModifiedBy>
  <cp:revision>245</cp:revision>
  <dcterms:created xsi:type="dcterms:W3CDTF">2023-04-27T05:55:18Z</dcterms:created>
  <dcterms:modified xsi:type="dcterms:W3CDTF">2026-05-23T04:22:25Z</dcterms:modified>
</cp:coreProperties>
</file>