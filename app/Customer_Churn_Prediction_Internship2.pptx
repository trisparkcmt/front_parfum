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5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7" y="502920"/>
            <a:ext cx="4206240" cy="8697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331720"/>
            <a:ext cx="999439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000">
                <a:solidFill>
                  <a:srgbClr val="FF0000"/>
                </a:solidFill>
                <a:latin typeface="Arial"/>
              </a:rPr>
              <a:t>CUSTOMER CHURN PREDICTION SYSTEM
USING MACHINE LEARNING AND STREAMLIT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794760"/>
            <a:ext cx="99943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i="1">
                <a:solidFill>
                  <a:srgbClr val="00336E"/>
                </a:solidFill>
                <a:latin typeface="Arial"/>
              </a:rPr>
              <a:t>A Major Project Report — Internship-2 | Bachelor of Computer Applications (BCA)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4343400"/>
            <a:ext cx="8138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800">
                <a:solidFill>
                  <a:srgbClr val="1F1F1F"/>
                </a:solidFill>
                <a:latin typeface="Arial"/>
              </a:rPr>
              <a:t>Submitted by: </a:t>
            </a:r>
            <a:r>
              <a:rPr sz="1800">
                <a:solidFill>
                  <a:srgbClr val="00336E"/>
                </a:solidFill>
                <a:latin typeface="Arial"/>
              </a:rPr>
              <a:t>Darren Fortun Fotsing Tankam</a:t>
            </a:r>
          </a:p>
          <a:p>
            <a:pPr algn="ctr"/>
            <a:r>
              <a:rPr b="1" sz="1800">
                <a:solidFill>
                  <a:srgbClr val="1F1F1F"/>
                </a:solidFill>
                <a:latin typeface="Arial"/>
              </a:rPr>
              <a:t>Register No: </a:t>
            </a:r>
            <a:r>
              <a:rPr sz="1800">
                <a:solidFill>
                  <a:srgbClr val="00336E"/>
                </a:solidFill>
                <a:latin typeface="Arial"/>
              </a:rPr>
              <a:t>23923030019</a:t>
            </a:r>
          </a:p>
          <a:p>
            <a:pPr algn="ctr"/>
            <a:r>
              <a:rPr b="1" sz="1800">
                <a:solidFill>
                  <a:srgbClr val="1F1F1F"/>
                </a:solidFill>
                <a:latin typeface="Arial"/>
              </a:rPr>
              <a:t>Under the guidance of: </a:t>
            </a:r>
            <a:r>
              <a:rPr sz="1800">
                <a:solidFill>
                  <a:srgbClr val="00336E"/>
                </a:solidFill>
                <a:latin typeface="Arial"/>
              </a:rPr>
              <a:t>Dr. Rajeev Kudari / Dr. P Srilatha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61722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400">
                <a:solidFill>
                  <a:srgbClr val="A51C24"/>
                </a:solidFill>
                <a:latin typeface="Arial"/>
              </a:rPr>
              <a:t>CDOE, KL University |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3017520" cy="6239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32004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2400">
                <a:solidFill>
                  <a:srgbClr val="1F1F1F"/>
                </a:solidFill>
                <a:latin typeface="Arial"/>
              </a:rPr>
              <a:t>Internship-2 </a:t>
            </a:r>
            <a:r>
              <a:rPr b="1" sz="2400">
                <a:solidFill>
                  <a:srgbClr val="00336E"/>
                </a:solidFill>
                <a:latin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u="sng" sz="2600">
                <a:solidFill>
                  <a:srgbClr val="A51C24"/>
                </a:solidFill>
                <a:latin typeface="Arial"/>
              </a:rPr>
              <a:t>Presentation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200">
                <a:solidFill>
                  <a:srgbClr val="001D35"/>
                </a:solidFill>
                <a:latin typeface="Arial"/>
              </a:rPr>
              <a:t>1. Introduction &amp; Problem Statement</a:t>
            </a:r>
          </a:p>
          <a:p>
            <a:pPr>
              <a:lnSpc>
                <a:spcPct val="150000"/>
              </a:lnSpc>
            </a:pPr>
            <a:r>
              <a:rPr sz="2200">
                <a:solidFill>
                  <a:srgbClr val="001D35"/>
                </a:solidFill>
                <a:latin typeface="Arial"/>
              </a:rPr>
              <a:t>2. Objectives &amp; Scope of the Study</a:t>
            </a:r>
          </a:p>
          <a:p>
            <a:pPr>
              <a:lnSpc>
                <a:spcPct val="150000"/>
              </a:lnSpc>
            </a:pPr>
            <a:r>
              <a:rPr sz="2200">
                <a:solidFill>
                  <a:srgbClr val="001D35"/>
                </a:solidFill>
                <a:latin typeface="Arial"/>
              </a:rPr>
              <a:t>3. Literature Review</a:t>
            </a:r>
          </a:p>
          <a:p>
            <a:pPr>
              <a:lnSpc>
                <a:spcPct val="150000"/>
              </a:lnSpc>
            </a:pPr>
            <a:r>
              <a:rPr sz="2200">
                <a:solidFill>
                  <a:srgbClr val="001D35"/>
                </a:solidFill>
                <a:latin typeface="Arial"/>
              </a:rPr>
              <a:t>4. System Architecture</a:t>
            </a:r>
          </a:p>
          <a:p>
            <a:pPr>
              <a:lnSpc>
                <a:spcPct val="150000"/>
              </a:lnSpc>
            </a:pPr>
            <a:r>
              <a:rPr sz="2200">
                <a:solidFill>
                  <a:srgbClr val="001D35"/>
                </a:solidFill>
                <a:latin typeface="Arial"/>
              </a:rPr>
              <a:t>5. Methodology: Preprocessing &amp; Model</a:t>
            </a:r>
          </a:p>
          <a:p>
            <a:pPr>
              <a:lnSpc>
                <a:spcPct val="150000"/>
              </a:lnSpc>
            </a:pPr>
            <a:r>
              <a:rPr sz="2200">
                <a:solidFill>
                  <a:srgbClr val="001D35"/>
                </a:solidFill>
                <a:latin typeface="Arial"/>
              </a:rPr>
              <a:t>6. Web Application (Streamlit)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200">
                <a:solidFill>
                  <a:srgbClr val="001D35"/>
                </a:solidFill>
                <a:latin typeface="Arial"/>
              </a:rPr>
              <a:t>7. Results &amp; Discussion</a:t>
            </a:r>
          </a:p>
          <a:p>
            <a:pPr>
              <a:lnSpc>
                <a:spcPct val="150000"/>
              </a:lnSpc>
            </a:pPr>
            <a:r>
              <a:rPr sz="2200">
                <a:solidFill>
                  <a:srgbClr val="001D35"/>
                </a:solidFill>
                <a:latin typeface="Arial"/>
              </a:rPr>
              <a:t>8. Findings</a:t>
            </a:r>
          </a:p>
          <a:p>
            <a:pPr>
              <a:lnSpc>
                <a:spcPct val="150000"/>
              </a:lnSpc>
            </a:pPr>
            <a:r>
              <a:rPr sz="2200">
                <a:solidFill>
                  <a:srgbClr val="001D35"/>
                </a:solidFill>
                <a:latin typeface="Arial"/>
              </a:rPr>
              <a:t>9. Recommendations</a:t>
            </a:r>
          </a:p>
          <a:p>
            <a:pPr>
              <a:lnSpc>
                <a:spcPct val="150000"/>
              </a:lnSpc>
            </a:pPr>
            <a:r>
              <a:rPr sz="2200">
                <a:solidFill>
                  <a:srgbClr val="001D35"/>
                </a:solidFill>
                <a:latin typeface="Arial"/>
              </a:rPr>
              <a:t>10. Conclusion &amp; Future Scope</a:t>
            </a:r>
          </a:p>
          <a:p>
            <a:pPr>
              <a:lnSpc>
                <a:spcPct val="150000"/>
              </a:lnSpc>
            </a:pPr>
            <a:r>
              <a:rPr sz="2200">
                <a:solidFill>
                  <a:srgbClr val="001D35"/>
                </a:solidFill>
                <a:latin typeface="Arial"/>
              </a:rPr>
              <a:t>11.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3017520" cy="6239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32004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2400">
                <a:solidFill>
                  <a:srgbClr val="1F1F1F"/>
                </a:solidFill>
                <a:latin typeface="Arial"/>
              </a:rPr>
              <a:t>Internship-2 </a:t>
            </a:r>
            <a:r>
              <a:rPr b="1" sz="2400">
                <a:solidFill>
                  <a:srgbClr val="00336E"/>
                </a:solidFill>
                <a:latin typeface="Arial"/>
              </a:rPr>
              <a:t>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u="sng" sz="2500">
                <a:solidFill>
                  <a:srgbClr val="A51C24"/>
                </a:solidFill>
                <a:latin typeface="Arial"/>
              </a:rPr>
              <a:t>1. Introduction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r>
              <a:rPr sz="1900">
                <a:solidFill>
                  <a:srgbClr val="001D35"/>
                </a:solidFill>
                <a:latin typeface="Arial"/>
              </a:rPr>
              <a:t>Customer churn — the rate at which clients discontinue a subscription — is a major financial challenge; retaining existing customers costs far less than acquiring new ones.</a:t>
            </a:r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r>
              <a:rPr sz="1900">
                <a:solidFill>
                  <a:srgbClr val="001D35"/>
                </a:solidFill>
                <a:latin typeface="Arial"/>
              </a:rPr>
              <a:t>Machine Learning can analyze complex, multi-variable customer profiles to detect subtle signals preceding cancellation, enabling proactive intervention.</a:t>
            </a:r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r>
              <a:rPr b="1" sz="1900">
                <a:solidFill>
                  <a:srgbClr val="001D35"/>
                </a:solidFill>
                <a:latin typeface="Arial"/>
              </a:rPr>
              <a:t>Problem: </a:t>
            </a:r>
            <a:r>
              <a:rPr sz="1900">
                <a:solidFill>
                  <a:srgbClr val="001D35"/>
                </a:solidFill>
                <a:latin typeface="Arial"/>
              </a:rPr>
              <a:t>Traditional retention strategies are reactive — companies lack an automated, data-driven way to score churn risk in real time from contract, tenure, payment and billing data.</a:t>
            </a:r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r>
              <a:rPr sz="1900">
                <a:solidFill>
                  <a:srgbClr val="001D35"/>
                </a:solidFill>
                <a:latin typeface="Arial"/>
              </a:rPr>
              <a:t>Without proactive risk scoring, marketing budgets are spent broadly instead of on vulnerable customer segments.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3017520" cy="6239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32004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2400">
                <a:solidFill>
                  <a:srgbClr val="1F1F1F"/>
                </a:solidFill>
                <a:latin typeface="Arial"/>
              </a:rPr>
              <a:t>Internship-2 </a:t>
            </a:r>
            <a:r>
              <a:rPr b="1" sz="2400">
                <a:solidFill>
                  <a:srgbClr val="00336E"/>
                </a:solidFill>
                <a:latin typeface="Arial"/>
              </a:rPr>
              <a:t>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u="sng" sz="2500">
                <a:solidFill>
                  <a:srgbClr val="A51C24"/>
                </a:solidFill>
                <a:latin typeface="Arial"/>
              </a:rPr>
              <a:t>2. Objectives &amp; Scope of the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100"/>
              </a:spcAft>
              <a:buFont typeface="Arial"/>
              <a:buChar char="•"/>
            </a:pPr>
            <a:r>
              <a:rPr sz="1700">
                <a:solidFill>
                  <a:srgbClr val="001D35"/>
                </a:solidFill>
                <a:latin typeface="Arial"/>
              </a:rPr>
              <a:t>Generate a synthetic dataset replicating real-world telecom customer churn data.</a:t>
            </a:r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Font typeface="Arial"/>
              <a:buChar char="•"/>
            </a:pPr>
            <a:r>
              <a:rPr sz="1700">
                <a:solidFill>
                  <a:srgbClr val="001D35"/>
                </a:solidFill>
                <a:latin typeface="Arial"/>
              </a:rPr>
              <a:t>Build an automated preprocessing pipeline: categorical label encoding + numerical standard scaling.</a:t>
            </a:r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Font typeface="Arial"/>
              <a:buChar char="•"/>
            </a:pPr>
            <a:r>
              <a:rPr sz="1700">
                <a:solidFill>
                  <a:srgbClr val="001D35"/>
                </a:solidFill>
                <a:latin typeface="Arial"/>
              </a:rPr>
              <a:t>Train and evaluate a Random Forest Classifier to accurately classify churn risk.</a:t>
            </a:r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Font typeface="Arial"/>
              <a:buChar char="•"/>
            </a:pPr>
            <a:r>
              <a:rPr sz="1700">
                <a:solidFill>
                  <a:srgbClr val="001D35"/>
                </a:solidFill>
                <a:latin typeface="Arial"/>
              </a:rPr>
              <a:t>Serialize trained artifacts (model.pkl, scaler.pkl) for fast offline inference.</a:t>
            </a:r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Font typeface="Arial"/>
              <a:buChar char="•"/>
            </a:pPr>
            <a:r>
              <a:rPr sz="1700">
                <a:solidFill>
                  <a:srgbClr val="001D35"/>
                </a:solidFill>
                <a:latin typeface="Arial"/>
              </a:rPr>
              <a:t>Deploy an interactive Streamlit web app for real-time, stakeholder-facing predictions.</a:t>
            </a:r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Font typeface="Arial"/>
              <a:buChar char="•"/>
            </a:pPr>
            <a:r>
              <a:rPr b="1" sz="1700">
                <a:solidFill>
                  <a:srgbClr val="001D35"/>
                </a:solidFill>
                <a:latin typeface="Arial"/>
              </a:rPr>
              <a:t>Scope: </a:t>
            </a:r>
            <a:r>
              <a:rPr sz="1700">
                <a:solidFill>
                  <a:srgbClr val="001D35"/>
                </a:solidFill>
                <a:latin typeface="Arial"/>
              </a:rPr>
              <a:t>end-to-end ML engineering — data generation, cleaning, scaling, training, serialization and web deployment — as a decision-support prototype for retention teams.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3017520" cy="6239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32004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2400">
                <a:solidFill>
                  <a:srgbClr val="1F1F1F"/>
                </a:solidFill>
                <a:latin typeface="Arial"/>
              </a:rPr>
              <a:t>Internship-2 </a:t>
            </a:r>
            <a:r>
              <a:rPr b="1" sz="2400">
                <a:solidFill>
                  <a:srgbClr val="00336E"/>
                </a:solidFill>
                <a:latin typeface="Arial"/>
              </a:rPr>
              <a:t>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u="sng" sz="2500">
                <a:solidFill>
                  <a:srgbClr val="A51C24"/>
                </a:solidFill>
                <a:latin typeface="Arial"/>
              </a:rPr>
              <a:t>3. 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sz="1900">
                <a:solidFill>
                  <a:srgbClr val="001D35"/>
                </a:solidFill>
                <a:latin typeface="Arial"/>
              </a:rPr>
              <a:t>Predictive modeling in CRM has evolved from classical statistical regression to ensemble Machine Learning.</a:t>
            </a:r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sz="1900">
                <a:solidFill>
                  <a:srgbClr val="001D35"/>
                </a:solidFill>
                <a:latin typeface="Arial"/>
              </a:rPr>
              <a:t>Tree-based algorithms — particularly Random Forests — excel on tabular business data: they are immune to feature-scale variation and capture non-linear interactions between tenure, billing tier and service options.</a:t>
            </a:r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sz="1900">
                <a:solidFill>
                  <a:srgbClr val="001D35"/>
                </a:solidFill>
                <a:latin typeface="Arial"/>
              </a:rPr>
              <a:t>Literature emphasizes serializing the preprocessing scaler alongside the trained model to preserve data consistency during real-time web deployment.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3017520" cy="6239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32004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2400">
                <a:solidFill>
                  <a:srgbClr val="1F1F1F"/>
                </a:solidFill>
                <a:latin typeface="Arial"/>
              </a:rPr>
              <a:t>Internship-2 </a:t>
            </a:r>
            <a:r>
              <a:rPr b="1" sz="2400">
                <a:solidFill>
                  <a:srgbClr val="00336E"/>
                </a:solidFill>
                <a:latin typeface="Arial"/>
              </a:rPr>
              <a:t>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u="sng" sz="2500">
                <a:solidFill>
                  <a:srgbClr val="A51C24"/>
                </a:solidFill>
                <a:latin typeface="Arial"/>
              </a:rPr>
              <a:t>4.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sz="1900">
                <a:solidFill>
                  <a:srgbClr val="001D35"/>
                </a:solidFill>
                <a:latin typeface="Arial"/>
              </a:rPr>
              <a:t>The system follows a 4-stage operational pipeline.</a:t>
            </a:r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sz="1900">
                <a:solidFill>
                  <a:srgbClr val="001D35"/>
                </a:solidFill>
                <a:latin typeface="Arial"/>
              </a:rPr>
              <a:t>Raw Data Acquisition → Preprocessing → Model Training &amp; Serialization → Web App Inference.</a:t>
            </a:r>
          </a:p>
        </p:txBody>
      </p:sp>
      <p:pic>
        <p:nvPicPr>
          <p:cNvPr id="6" name="Picture 5" descr="arch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247" y="3566160"/>
            <a:ext cx="9601200" cy="32439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3017520" cy="6239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32004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2400">
                <a:solidFill>
                  <a:srgbClr val="1F1F1F"/>
                </a:solidFill>
                <a:latin typeface="Arial"/>
              </a:rPr>
              <a:t>Internship-2 </a:t>
            </a:r>
            <a:r>
              <a:rPr b="1" sz="2400">
                <a:solidFill>
                  <a:srgbClr val="00336E"/>
                </a:solidFill>
                <a:latin typeface="Arial"/>
              </a:rPr>
              <a:t>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u="sng" sz="2500">
                <a:solidFill>
                  <a:srgbClr val="A51C24"/>
                </a:solidFill>
                <a:latin typeface="Arial"/>
              </a:rPr>
              <a:t>5. Methodology: Preprocessing &amp;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b="1" sz="1800">
                <a:solidFill>
                  <a:srgbClr val="001D35"/>
                </a:solidFill>
                <a:latin typeface="Arial"/>
              </a:rPr>
              <a:t>Label Encoding: </a:t>
            </a:r>
            <a:r>
              <a:rPr sz="1800">
                <a:solidFill>
                  <a:srgbClr val="001D35"/>
                </a:solidFill>
                <a:latin typeface="Arial"/>
              </a:rPr>
              <a:t>categorical fields (gender, contract type, payment method) are converted into integer codes.</a:t>
            </a:r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b="1" sz="1800">
                <a:solidFill>
                  <a:srgbClr val="001D35"/>
                </a:solidFill>
                <a:latin typeface="Arial"/>
              </a:rPr>
              <a:t>Standard Scaling: </a:t>
            </a:r>
            <a:r>
              <a:rPr sz="1800">
                <a:solidFill>
                  <a:srgbClr val="001D35"/>
                </a:solidFill>
                <a:latin typeface="Arial"/>
              </a:rPr>
              <a:t>continuous fields (tenure, monthly &amp; total charges) are normalized to mean 0, standard deviation 1, so no single feature dominates.</a:t>
            </a:r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b="1" sz="1800">
                <a:solidFill>
                  <a:srgbClr val="001D35"/>
                </a:solidFill>
                <a:latin typeface="Arial"/>
              </a:rPr>
              <a:t>Model: </a:t>
            </a:r>
            <a:r>
              <a:rPr sz="1800">
                <a:solidFill>
                  <a:srgbClr val="001D35"/>
                </a:solidFill>
                <a:latin typeface="Arial"/>
              </a:rPr>
              <a:t>Random Forest Classifier with 100 decision trees (n_estimators = 100); each tree splits on Gini Impurity, and the final prediction is the ensemble's majority vote.</a:t>
            </a:r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b="1" sz="1800">
                <a:solidFill>
                  <a:srgbClr val="001D35"/>
                </a:solidFill>
                <a:latin typeface="Arial"/>
              </a:rPr>
              <a:t>Artifacts: </a:t>
            </a:r>
            <a:r>
              <a:rPr sz="1800">
                <a:solidFill>
                  <a:srgbClr val="001D35"/>
                </a:solidFill>
                <a:latin typeface="Arial"/>
              </a:rPr>
              <a:t>the trained model and scaler are serialized with Joblib as model.pkl and scaler.pkl for instant reuse in the web app.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3017520" cy="6239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32004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2400">
                <a:solidFill>
                  <a:srgbClr val="1F1F1F"/>
                </a:solidFill>
                <a:latin typeface="Arial"/>
              </a:rPr>
              <a:t>Internship-2 </a:t>
            </a:r>
            <a:r>
              <a:rPr b="1" sz="2400">
                <a:solidFill>
                  <a:srgbClr val="00336E"/>
                </a:solidFill>
                <a:latin typeface="Arial"/>
              </a:rPr>
              <a:t>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u="sng" sz="2500">
                <a:solidFill>
                  <a:srgbClr val="A51C24"/>
                </a:solidFill>
                <a:latin typeface="Arial"/>
              </a:rPr>
              <a:t>6. Web Application — Streamlit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5394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1D35"/>
                </a:solidFill>
                <a:latin typeface="Arial"/>
              </a:rPr>
              <a:t>Users enter tenure, monthly charges, gender, billing and contract details through a simple interactive form.</a:t>
            </a:r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1D35"/>
                </a:solidFill>
                <a:latin typeface="Arial"/>
              </a:rPr>
              <a:t>The app loads model.pkl and scaler.pkl, scales the input, and returns an instant churn-risk prediction.</a:t>
            </a:r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1D35"/>
                </a:solidFill>
                <a:latin typeface="Arial"/>
              </a:rPr>
              <a:t>Results are colour-coded: a high-risk churn warning or a low-risk retention message.</a:t>
            </a:r>
          </a:p>
        </p:txBody>
      </p:sp>
      <p:pic>
        <p:nvPicPr>
          <p:cNvPr id="6" name="Picture 5" descr="streamlit_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00200"/>
            <a:ext cx="5760720" cy="33767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3017520" cy="6239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32004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2400">
                <a:solidFill>
                  <a:srgbClr val="1F1F1F"/>
                </a:solidFill>
                <a:latin typeface="Arial"/>
              </a:rPr>
              <a:t>Internship-2 </a:t>
            </a:r>
            <a:r>
              <a:rPr b="1" sz="2400">
                <a:solidFill>
                  <a:srgbClr val="00336E"/>
                </a:solidFill>
                <a:latin typeface="Arial"/>
              </a:rPr>
              <a:t>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u="sng" sz="2500">
                <a:solidFill>
                  <a:srgbClr val="A51C24"/>
                </a:solidFill>
                <a:latin typeface="Arial"/>
              </a:rPr>
              <a:t>7. Results &amp; Discussion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28800"/>
          <a:ext cx="53949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017520"/>
              </a:tblGrid>
              <a:tr h="4754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1D35"/>
                          </a:solidFill>
                          <a:latin typeface="Arial"/>
                        </a:defRPr>
                      </a:pPr>
                      <a:r>
                        <a:t>Dataset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1D35"/>
                          </a:solidFill>
                          <a:latin typeface="Arial"/>
                        </a:defRPr>
                      </a:pPr>
                      <a:r>
                        <a:t>1,000 synthetic records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1D35"/>
                          </a:solidFill>
                          <a:latin typeface="Arial"/>
                        </a:defRPr>
                      </a:pPr>
                      <a:r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1D35"/>
                          </a:solidFill>
                          <a:latin typeface="Arial"/>
                        </a:defRPr>
                      </a:pPr>
                      <a:r>
                        <a:t>Random Forest (100 trees)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1D35"/>
                          </a:solidFill>
                          <a:latin typeface="Arial"/>
                        </a:defRPr>
                      </a:pPr>
                      <a:r>
                        <a:t>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1D35"/>
                          </a:solidFill>
                          <a:latin typeface="Arial"/>
                        </a:defRPr>
                      </a:pPr>
                      <a:r>
                        <a:t>Streamlit UI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1D35"/>
                          </a:solidFill>
                          <a:latin typeface="Arial"/>
                        </a:defRPr>
                      </a:pPr>
                      <a:r>
                        <a:t>Inference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1D35"/>
                          </a:solidFill>
                          <a:latin typeface="Arial"/>
                        </a:defRPr>
                      </a:pPr>
                      <a:r>
                        <a:t>&lt; 50 ms (real-time)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1D35"/>
                          </a:solidFill>
                          <a:latin typeface="Arial"/>
                        </a:defRPr>
                      </a:pPr>
                      <a:r>
                        <a:t>Top Churn Drivers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1D35"/>
                          </a:solidFill>
                          <a:latin typeface="Arial"/>
                        </a:defRPr>
                      </a:pPr>
                      <a:r>
                        <a:t>Contract, Tenure, Monthly Charges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43484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001D35"/>
                </a:solidFill>
                <a:latin typeface="Arial"/>
              </a:rPr>
              <a:t>Month-to-month contracts combined with high monthly charges consistently triggered high-risk predictions (&gt;65% probability), matching actual retention trends.</a:t>
            </a:r>
          </a:p>
        </p:txBody>
      </p:sp>
      <p:pic>
        <p:nvPicPr>
          <p:cNvPr id="7" name="Picture 6" descr="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920240"/>
            <a:ext cx="5669280" cy="27987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3017520" cy="6239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32004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2400">
                <a:solidFill>
                  <a:srgbClr val="1F1F1F"/>
                </a:solidFill>
                <a:latin typeface="Arial"/>
              </a:rPr>
              <a:t>Internship-2 </a:t>
            </a:r>
            <a:r>
              <a:rPr b="1" sz="2400">
                <a:solidFill>
                  <a:srgbClr val="00336E"/>
                </a:solidFill>
                <a:latin typeface="Arial"/>
              </a:rPr>
              <a:t>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u="sng" sz="2500">
                <a:solidFill>
                  <a:srgbClr val="A51C24"/>
                </a:solidFill>
                <a:latin typeface="Arial"/>
              </a:rPr>
              <a:t>8. Findings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0070C0"/>
                </a:solidFill>
                <a:latin typeface="Arial"/>
              </a:rPr>
              <a:t>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9456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500">
                <a:solidFill>
                  <a:srgbClr val="001D35"/>
                </a:solidFill>
                <a:latin typeface="Arial"/>
              </a:rPr>
              <a:t>Month-to-month contracts are the strongest single indicator of churn.</a:t>
            </a: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500">
                <a:solidFill>
                  <a:srgbClr val="001D35"/>
                </a:solidFill>
                <a:latin typeface="Arial"/>
              </a:rPr>
              <a:t>Customers in months 1–12 show the highest cancellation risk.</a:t>
            </a: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500">
                <a:solidFill>
                  <a:srgbClr val="001D35"/>
                </a:solidFill>
                <a:latin typeface="Arial"/>
              </a:rPr>
              <a:t>High monthly charges without loyalty discounts accelerate churn.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737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0070C0"/>
                </a:solidFill>
                <a:latin typeface="Arial"/>
              </a:rPr>
              <a:t>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19456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500">
                <a:solidFill>
                  <a:srgbClr val="001D35"/>
                </a:solidFill>
                <a:latin typeface="Arial"/>
              </a:rPr>
              <a:t>Incentivize long-term contracts to convert high-risk month-to-month accounts.</a:t>
            </a: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500">
                <a:solidFill>
                  <a:srgbClr val="001D35"/>
                </a:solidFill>
                <a:latin typeface="Arial"/>
              </a:rPr>
              <a:t>Deploy early onboarding check-ins within customers' first 90 days.</a:t>
            </a: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500">
                <a:solidFill>
                  <a:srgbClr val="001D35"/>
                </a:solidFill>
                <a:latin typeface="Arial"/>
              </a:rPr>
              <a:t>Feed live predictions into the CRM to auto-trigger retention offers.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3017520" cy="6239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32004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2400">
                <a:solidFill>
                  <a:srgbClr val="1F1F1F"/>
                </a:solidFill>
                <a:latin typeface="Arial"/>
              </a:rPr>
              <a:t>Internship-2 </a:t>
            </a:r>
            <a:r>
              <a:rPr b="1" sz="2400">
                <a:solidFill>
                  <a:srgbClr val="00336E"/>
                </a:solidFill>
                <a:latin typeface="Arial"/>
              </a:rPr>
              <a:t>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u="sng" sz="2500">
                <a:solidFill>
                  <a:srgbClr val="A51C24"/>
                </a:solidFill>
                <a:latin typeface="Arial"/>
              </a:rPr>
              <a:t>9. 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0070C0"/>
                </a:solidFill>
                <a:latin typeface="Arial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700">
                <a:solidFill>
                  <a:srgbClr val="001D35"/>
                </a:solidFill>
                <a:latin typeface="Arial"/>
              </a:rPr>
              <a:t>The system successfully demonstrates an end-to-end ML solution: preprocessing, ensemble Random Forest training, and cloud-ready Streamlit deployment.</a:t>
            </a: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700">
                <a:solidFill>
                  <a:srgbClr val="001D35"/>
                </a:solidFill>
                <a:latin typeface="Arial"/>
              </a:rPr>
              <a:t>It converts complex statistical operations into an accessible, real-time retention-management tool.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0070C0"/>
                </a:solidFill>
                <a:latin typeface="Arial"/>
              </a:rPr>
              <a:t>Future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700">
                <a:solidFill>
                  <a:srgbClr val="001D35"/>
                </a:solidFill>
                <a:latin typeface="Arial"/>
              </a:rPr>
              <a:t>GridSearchCV hyperparameter tuning for tree depth and minimum sample splits.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700">
                <a:solidFill>
                  <a:srgbClr val="001D35"/>
                </a:solidFill>
                <a:latin typeface="Arial"/>
              </a:rPr>
              <a:t>Database integration (PostgreSQL / MongoDB) for live, dynamic batch updates.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700">
                <a:solidFill>
                  <a:srgbClr val="001D35"/>
                </a:solidFill>
                <a:latin typeface="Arial"/>
              </a:rPr>
              <a:t>Model monitoring for prediction drift as real-world behavior evolves.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3017520" cy="6239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32004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2400">
                <a:solidFill>
                  <a:srgbClr val="1F1F1F"/>
                </a:solidFill>
                <a:latin typeface="Arial"/>
              </a:rPr>
              <a:t>Internship-2 </a:t>
            </a:r>
            <a:r>
              <a:rPr b="1" sz="2400">
                <a:solidFill>
                  <a:srgbClr val="00336E"/>
                </a:solidFill>
                <a:latin typeface="Arial"/>
              </a:rPr>
              <a:t>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u="sng" sz="2500">
                <a:solidFill>
                  <a:srgbClr val="A51C24"/>
                </a:solidFill>
                <a:latin typeface="Arial"/>
              </a:rPr>
              <a:t>10.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881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sz="1900">
                <a:solidFill>
                  <a:srgbClr val="001D35"/>
                </a:solidFill>
                <a:latin typeface="Arial"/>
              </a:rPr>
              <a:t>Breiman, L. (2001). Random Forests. Machine Learning, 45(1), 5–32.</a:t>
            </a:r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sz="1900">
                <a:solidFill>
                  <a:srgbClr val="001D35"/>
                </a:solidFill>
                <a:latin typeface="Arial"/>
              </a:rPr>
              <a:t>Streamlit Documentation. Building Interactive Data Apps with Python. docs.streamlit.io</a:t>
            </a:r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sz="1900">
                <a:solidFill>
                  <a:srgbClr val="001D35"/>
                </a:solidFill>
                <a:latin typeface="Arial"/>
              </a:rPr>
              <a:t>Pedregosa, F., et al. (2011). Scikit-learn: Machine Learning in Python. Journal of Machine Learning Research.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